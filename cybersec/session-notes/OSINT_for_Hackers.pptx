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126480"/>
            <a:ext cx="36576" cy="36576"/>
          </a:xfrm>
          <a:prstGeom prst="ellipse">
            <a:avLst/>
          </a:prstGeom>
          <a:solidFill>
            <a:srgbClr val="1C2436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6126480"/>
            <a:ext cx="36576" cy="36576"/>
          </a:xfrm>
          <a:prstGeom prst="ellipse">
            <a:avLst/>
          </a:prstGeom>
          <a:solidFill>
            <a:srgbClr val="1C243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6126480"/>
            <a:ext cx="36576" cy="36576"/>
          </a:xfrm>
          <a:prstGeom prst="ellipse">
            <a:avLst/>
          </a:prstGeom>
          <a:solidFill>
            <a:srgbClr val="1C2436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6126480"/>
            <a:ext cx="36576" cy="36576"/>
          </a:xfrm>
          <a:prstGeom prst="ellipse">
            <a:avLst/>
          </a:prstGeom>
          <a:solidFill>
            <a:srgbClr val="1C2436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0" y="6126480"/>
            <a:ext cx="36576" cy="36576"/>
          </a:xfrm>
          <a:prstGeom prst="ellipse">
            <a:avLst/>
          </a:prstGeom>
          <a:solidFill>
            <a:srgbClr val="1C2436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0" y="6126480"/>
            <a:ext cx="36576" cy="36576"/>
          </a:xfrm>
          <a:prstGeom prst="ellipse">
            <a:avLst/>
          </a:prstGeom>
          <a:solidFill>
            <a:srgbClr val="1C2436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0" y="6126480"/>
            <a:ext cx="36576" cy="36576"/>
          </a:xfrm>
          <a:prstGeom prst="ellipse">
            <a:avLst/>
          </a:prstGeom>
          <a:solidFill>
            <a:srgbClr val="1C2436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0" y="6126480"/>
            <a:ext cx="36576" cy="36576"/>
          </a:xfrm>
          <a:prstGeom prst="ellipse">
            <a:avLst/>
          </a:prstGeom>
          <a:solidFill>
            <a:srgbClr val="1C2436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0" y="6126480"/>
            <a:ext cx="36576" cy="36576"/>
          </a:xfrm>
          <a:prstGeom prst="ellipse">
            <a:avLst/>
          </a:prstGeom>
          <a:solidFill>
            <a:srgbClr val="1C2436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6126480"/>
            <a:ext cx="36576" cy="36576"/>
          </a:xfrm>
          <a:prstGeom prst="ellipse">
            <a:avLst/>
          </a:prstGeom>
          <a:solidFill>
            <a:srgbClr val="1C243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202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OSINT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HACKERS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Reconnaissance, Exposure, and Defense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 COLLECTION  ·  ATTACK-SURFACE MAPPING  ·  INVESTIGATOR TRADECRAFT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62956" cy="1143000"/>
          </a:xfrm>
          <a:prstGeom prst="roundRect">
            <a:avLst>
              <a:gd name="adj" fmla="val 6400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41742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fundamentals &amp; methodology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7356" y="1828800"/>
            <a:ext cx="5362956" cy="1143000"/>
          </a:xfrm>
          <a:prstGeom prst="roundRect">
            <a:avLst>
              <a:gd name="adj" fmla="val 6400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5956" y="182880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283196" y="1828800"/>
            <a:ext cx="41742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Search-engine and document recon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362956" cy="1143000"/>
          </a:xfrm>
          <a:prstGeom prst="roundRect">
            <a:avLst>
              <a:gd name="adj" fmla="val 6400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41742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DNS &amp; infrastructure mapping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77356" y="3246120"/>
            <a:ext cx="5362956" cy="1143000"/>
          </a:xfrm>
          <a:prstGeom prst="roundRect">
            <a:avLst>
              <a:gd name="adj" fmla="val 6400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5956" y="324612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83196" y="3246120"/>
            <a:ext cx="41742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email &amp; social-media recon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5362956" cy="1143000"/>
          </a:xfrm>
          <a:prstGeom prst="roundRect">
            <a:avLst>
              <a:gd name="adj" fmla="val 6400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6344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4663440"/>
            <a:ext cx="41742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archive &amp; physical OSINT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77356" y="4663440"/>
            <a:ext cx="5362956" cy="1143000"/>
          </a:xfrm>
          <a:prstGeom prst="roundRect">
            <a:avLst>
              <a:gd name="adj" fmla="val 6400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5956" y="466344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83196" y="4663440"/>
            <a:ext cx="41742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Tooling, investigator OPSEC &amp; reporting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OSINT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 and analysis of publicly accessible information — websites, search engines, social media, domain records, certificate logs, public documents, job posts, paste sites, and archives.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6126480" cy="2971800"/>
          </a:xfrm>
          <a:prstGeom prst="roundRect">
            <a:avLst>
              <a:gd name="adj" fmla="val 2462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RULE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7490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obtaining the information requires authentication, exploitation, or circumventing a control, it is no longer OSINT.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PRE-ENGAGEMENT RECON IDENTIFIES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23760" y="1965960"/>
            <a:ext cx="457200" cy="45720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19202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Domains, subdomains, IP ranges &amp; exposed services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23760" y="2807208"/>
            <a:ext cx="457200" cy="45720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18120" y="276148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email formats &amp; social profiles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23760" y="3648456"/>
            <a:ext cx="457200" cy="45720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360273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forgotten subdomains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223760" y="4489704"/>
            <a:ext cx="457200" cy="45720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18120" y="444398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locations &amp; organizational relationships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23760" y="5330952"/>
            <a:ext cx="457200" cy="45720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18120" y="5285232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leaked data enabling social engineering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Repeatable Five-Step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25726" cy="3657600"/>
          </a:xfrm>
          <a:prstGeom prst="roundRect">
            <a:avLst>
              <a:gd name="adj" fmla="val 3799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1463" y="2240280"/>
            <a:ext cx="640080" cy="640080"/>
          </a:xfrm>
          <a:prstGeom prst="ellipse">
            <a:avLst/>
          </a:prstGeom>
          <a:solidFill>
            <a:srgbClr val="0B0F19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91463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1651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474720"/>
            <a:ext cx="165140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intelligence requirement — what question is being answered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28646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40126" y="1920240"/>
            <a:ext cx="1925726" cy="3657600"/>
          </a:xfrm>
          <a:prstGeom prst="roundRect">
            <a:avLst>
              <a:gd name="adj" fmla="val 3799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82950" y="2240280"/>
            <a:ext cx="640080" cy="640080"/>
          </a:xfrm>
          <a:prstGeom prst="ellipse">
            <a:avLst/>
          </a:prstGeom>
          <a:solidFill>
            <a:srgbClr val="0B0F19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8295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77286" y="3063240"/>
            <a:ext cx="1651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77286" y="3474720"/>
            <a:ext cx="165140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Org, domains, IP ranges, geography, time window, authorization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0133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31613" y="1920240"/>
            <a:ext cx="1925726" cy="3657600"/>
          </a:xfrm>
          <a:prstGeom prst="roundRect">
            <a:avLst>
              <a:gd name="adj" fmla="val 3799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0B0F19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68773" y="3063240"/>
            <a:ext cx="1651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68773" y="3474720"/>
            <a:ext cx="165140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DNS, certs, search engines, repos, social media, archives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11619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23099" y="1920240"/>
            <a:ext cx="1925726" cy="3657600"/>
          </a:xfrm>
          <a:prstGeom prst="roundRect">
            <a:avLst>
              <a:gd name="adj" fmla="val 3799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922" y="2240280"/>
            <a:ext cx="640080" cy="640080"/>
          </a:xfrm>
          <a:prstGeom prst="ellipse">
            <a:avLst/>
          </a:prstGeom>
          <a:solidFill>
            <a:srgbClr val="0B0F19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922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60259" y="3063240"/>
            <a:ext cx="1651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60259" y="3474720"/>
            <a:ext cx="165140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Cross-verify across independent sources; assign a confidence level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303106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714586" y="1920240"/>
            <a:ext cx="1925726" cy="3657600"/>
          </a:xfrm>
          <a:prstGeom prst="roundRect">
            <a:avLst>
              <a:gd name="adj" fmla="val 3799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57409" y="2240280"/>
            <a:ext cx="640080" cy="640080"/>
          </a:xfrm>
          <a:prstGeom prst="ellipse">
            <a:avLst/>
          </a:prstGeom>
          <a:solidFill>
            <a:srgbClr val="0B0F19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57409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51746" y="3063240"/>
            <a:ext cx="165140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851746" y="3474720"/>
            <a:ext cx="165140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Attack-surface map, evidence, risk rating, remediation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SEARCH-ENGINE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Dork Operators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 operators surface pages and files ordinary queries miss — exposed documents, login portals, and misconfigured directories.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1672" cy="402336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36850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9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9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9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site: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 results to a 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9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site:example.com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inurl: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URL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9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inurl:admin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intitle: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page 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9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intitle:"index of"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filetype: / ext: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file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9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filetype:pdf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"..."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phrase 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9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"internal use only"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a 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9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site:example.com -www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cache: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Cached/historical 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D9A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cache:example.com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SEARCH-ENGINE OSINT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SEARCH-ENGINE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&amp; Image Metadata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PDFs, Word files, spreadsheets, and images routinely carry hidden metadata that expands the picture of a target's people and infrastructure.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69464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names &amp; usernames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11880" y="2569464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/>
          <p:nvPr/>
        </p:nvSpPr>
        <p:spPr>
          <a:xfrm>
            <a:off x="38862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file paths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72384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11880" y="3072384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versions &amp; revision history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network names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11880" y="3575304"/>
            <a:ext cx="109728" cy="10972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geolocation in images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1463040"/>
            <a:ext cx="4416552" cy="4480560"/>
          </a:xfrm>
          <a:prstGeom prst="roundRect">
            <a:avLst>
              <a:gd name="adj" fmla="val 1656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2103120"/>
            <a:ext cx="3931920" cy="457200"/>
          </a:xfrm>
          <a:prstGeom prst="rect">
            <a:avLst/>
          </a:prstGeom>
          <a:solidFill>
            <a:srgbClr val="1C243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exiftool report.pdf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0" y="2697480"/>
            <a:ext cx="3931920" cy="457200"/>
          </a:xfrm>
          <a:prstGeom prst="rect">
            <a:avLst/>
          </a:prstGeom>
          <a:solidFill>
            <a:srgbClr val="1C243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exiftool image.jpg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98080" y="3291840"/>
            <a:ext cx="3931920" cy="457200"/>
          </a:xfrm>
          <a:prstGeom prst="rect">
            <a:avLst/>
          </a:prstGeom>
          <a:solidFill>
            <a:srgbClr val="1C2436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exiftool -a -u -g1 document.docx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98080" y="429768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can be stale or misleading — treat it as a lead, not a conclusion, and corroborate before reporting.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SEARCH-ENGINE OSINT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&amp; DNS Discovery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the external attack surface begins with ownership records and the DNS layer.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 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1C24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40487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/ RDAP records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384048" cy="384048"/>
          </a:xfrm>
          <a:prstGeom prst="ellipse">
            <a:avLst/>
          </a:prstGeom>
          <a:solidFill>
            <a:srgbClr val="1C24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WHOIS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rgbClr val="1C24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57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53872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Transparency logs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1C24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105656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records (A, MX, NS, TXT)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90872"/>
            <a:ext cx="384048" cy="384048"/>
          </a:xfrm>
          <a:prstGeom prst="ellipse">
            <a:avLst/>
          </a:prstGeom>
          <a:solidFill>
            <a:srgbClr val="1C24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90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672584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 ownership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384048" cy="384048"/>
          </a:xfrm>
          <a:prstGeom prst="ellipse">
            <a:avLst/>
          </a:prstGeom>
          <a:solidFill>
            <a:srgbClr val="1C2436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239512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&amp; brand research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2057400"/>
            <a:ext cx="5239512" cy="3886200"/>
          </a:xfrm>
          <a:prstGeom prst="roundRect">
            <a:avLst>
              <a:gd name="adj" fmla="val 1882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WORKFLOW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26517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whois example.com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20840" y="31089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example.com ANY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20840" y="35661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example.com MX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20840" y="40233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example.com 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20840" y="44805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example.com TXT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20840" y="49377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example.com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720840" y="5577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RDAP:  https://rdap.org/domain/example.com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OSINT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Subdomain Enumeration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transparency, public DNS datasets, search engines, archives, third-party data.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"https://crt.sh/?q=%25.example.com&amp;output=json" | jq -r '.[].name_value'
</a:t>
            </a:r>
            <a:pPr indent="0" marL="0">
              <a:buNone/>
            </a:pPr>
            <a:r>
              <a:rPr lang="en-US" sz="10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amass enum -passive -d example.com
</a:t>
            </a:r>
            <a:pPr indent="0" marL="0">
              <a:buNone/>
            </a:pPr>
            <a:r>
              <a:rPr lang="en-US" sz="10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subfinder -d example.com -silent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239512" cy="1965960"/>
          </a:xfrm>
          <a:prstGeom prst="roundRect">
            <a:avLst>
              <a:gd name="adj" fmla="val 3721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2057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brute forcing, permutation generation, HTTP probing — interacts with the target, authorization required.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75120" y="26517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dnsx -l subdomains.txt -silent
</a:t>
            </a:r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httpx -l live-hosts.txt -title -tech-detect -status-code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HIGH-VALUE PATTERNS TO FLAG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06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test / staging / uat / demo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420624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4206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mail / remote / portal / admin /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420624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4206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cloud-hosted applications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983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CNAMEs → subdomain takeover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49834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4983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resolving to default pages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63840" y="498348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983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or misconfigured DNS entries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OSINT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Shodan &amp; Censys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Internet-wide scanning engines reveal what services an organization exposes — open ports, banners, certificates, device metadata.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GreyNoise adds internet-background-noise context to separate targeted scanning from mass internet traffic.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4690872" cy="4480560"/>
          </a:xfrm>
          <a:prstGeom prst="roundRect">
            <a:avLst>
              <a:gd name="adj" fmla="val 1633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QUERIES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23760" y="2103120"/>
            <a:ext cx="4206240" cy="402336"/>
          </a:xfrm>
          <a:prstGeom prst="rect">
            <a:avLst/>
          </a:prstGeom>
          <a:solidFill>
            <a:srgbClr val="1C243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org:"Example Corp"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0" y="2560320"/>
            <a:ext cx="4206240" cy="402336"/>
          </a:xfrm>
          <a:prstGeom prst="rect">
            <a:avLst/>
          </a:prstGeom>
          <a:solidFill>
            <a:srgbClr val="1C243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ssl.cert.subject.CN:"example.com"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223760" y="3017520"/>
            <a:ext cx="4206240" cy="402336"/>
          </a:xfrm>
          <a:prstGeom prst="rect">
            <a:avLst/>
          </a:prstGeom>
          <a:solidFill>
            <a:srgbClr val="1C243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hostname:"example.com"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223760" y="3474720"/>
            <a:ext cx="4206240" cy="402336"/>
          </a:xfrm>
          <a:prstGeom prst="rect">
            <a:avLst/>
          </a:prstGeom>
          <a:solidFill>
            <a:srgbClr val="1C243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http.title:"Dashboard"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23760" y="3931920"/>
            <a:ext cx="4206240" cy="402336"/>
          </a:xfrm>
          <a:prstGeom prst="rect">
            <a:avLst/>
          </a:prstGeom>
          <a:solidFill>
            <a:srgbClr val="1C243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product:"nginx"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23760" y="4389120"/>
            <a:ext cx="4206240" cy="402336"/>
          </a:xfrm>
          <a:prstGeom prst="rect">
            <a:avLst/>
          </a:prstGeom>
          <a:solidFill>
            <a:srgbClr val="1C243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port:3389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23760" y="4846320"/>
            <a:ext cx="4206240" cy="402336"/>
          </a:xfrm>
          <a:prstGeom prst="rect">
            <a:avLst/>
          </a:prstGeom>
          <a:solidFill>
            <a:srgbClr val="1C2436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port:22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OSINT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Historical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53384" cy="4114800"/>
          </a:xfrm>
          <a:prstGeom prst="roundRect">
            <a:avLst>
              <a:gd name="adj" fmla="val 2118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BuiltWith / Wappalyzer — tech stack detection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7784" y="1645920"/>
            <a:ext cx="3453384" cy="4114800"/>
          </a:xfrm>
          <a:prstGeom prst="roundRect">
            <a:avLst>
              <a:gd name="adj" fmla="val 2118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6384" y="1874520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96384" y="2331720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Wayback Machine — removed pages, old infra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96384" y="3108960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SecurityTrails / passive DNS — historical records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6928" y="1645920"/>
            <a:ext cx="3453384" cy="4114800"/>
          </a:xfrm>
          <a:prstGeom prst="roundRect">
            <a:avLst>
              <a:gd name="adj" fmla="val 2118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5528" y="1874520"/>
            <a:ext cx="2996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EXPOSURE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5528" y="2331720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"example.com" filename:.env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5528" y="3108960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"example.com" "AWS_ACCESS_KEY_ID"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5528" y="3886200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"example.com" "smtp_password"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5528" y="4663440"/>
            <a:ext cx="2996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org:example-org filename:config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OSINT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&amp; Email Discovery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HUMAN-FOCUSED OSINT SUPPORTS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91440" cy="914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simulations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66160" y="1901952"/>
            <a:ext cx="91440" cy="914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17556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Social-engineering assessments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91440" cy="914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04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Insider-risk analysis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66160" y="2450592"/>
            <a:ext cx="91440" cy="914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23042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protection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LinkedIn &amp; company websites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0599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theHarvester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46227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Hunter.io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8646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Have I Been Pwned (breach awareness)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2669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Public PDFs &amp; conference lists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3063240"/>
            <a:ext cx="4690872" cy="2926080"/>
          </a:xfrm>
          <a:prstGeom prst="roundRect">
            <a:avLst>
              <a:gd name="adj" fmla="val 2500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3291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EMAIL-FORMAT PERMUTATIONS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3657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john.doe@example.com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23760" y="405993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jdoe@example.com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223760" y="44622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j.doe@example.com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223760" y="48646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doej@example.com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223760" y="52669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john_doe@example.com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OSINT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 &amp; Social-Media Correlation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Usernames often link a person across platforms. A single match is weak evidence — corroborate with profile details, photos, writing style, links, and employer.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 TOOLS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Sherlock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53872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Maigret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1056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WhatsMyName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67258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Maltego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331720"/>
            <a:ext cx="4690872" cy="3566160"/>
          </a:xfrm>
          <a:prstGeom prst="roundRect">
            <a:avLst>
              <a:gd name="adj" fmla="val 2051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560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COLLECTION TARGETS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29718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Names, roles &amp; reporting structure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3760" y="34290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Job postings revealing technologies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23760" y="38862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Conference talks &amp; presentation slides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23760" y="4343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Photos of badges, offices, whiteboards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223760" y="4800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Posts revealing travel or projects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OSINT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IMAGE, ARCHIVE &amp; PHYSICAL OSINT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2356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OSINT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metadata &amp; GPS coordinates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172968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model &amp; timestamp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831336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Reflections, signage, landmarks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489704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 image search (Lens, TinEye, Yandex)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7784" y="164592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2104" y="1874520"/>
            <a:ext cx="457200" cy="45720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2104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82184" y="1874520"/>
            <a:ext cx="2356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Archives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2104" y="2514600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pages &amp; old portals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42104" y="3172968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employee directories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42104" y="3831336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product documentation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42104" y="4489704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web.archive.org/web/*/example.com/*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86928" y="1645920"/>
            <a:ext cx="3453384" cy="4206240"/>
          </a:xfrm>
          <a:prstGeom prst="roundRect">
            <a:avLst>
              <a:gd name="adj" fmla="val 2118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61248" y="1874520"/>
            <a:ext cx="457200" cy="45720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61248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01328" y="1874520"/>
            <a:ext cx="2356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&amp; Geo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61248" y="2514600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View &amp; satellite imagery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61248" y="3172968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business listings &amp; reviews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61248" y="3831336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pages &amp; job-posting locations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61248" y="4489704"/>
            <a:ext cx="2904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Geo-tagged social photos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IMAGE, ARCHIVE &amp; PHYSICAL OSINT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OSINT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answers a specific question — not a substitute for the methodology.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4297680"/>
        </p:xfrm>
        <a:graphic>
          <a:graphicData uri="http://schemas.openxmlformats.org/drawingml/2006/table">
            <a:tbl>
              <a:tblPr/>
              <a:tblGrid>
                <a:gridCol w="2560320"/>
                <a:gridCol w="4023360"/>
                <a:gridCol w="45079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D9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D9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D9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Answered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Amass, Subfinder, theHarvester, crt.sh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external assets exist?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Shodan, Censys, GreyNoise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services &amp; devices are exposed?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mapping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Maltego, SpiderFoot, Recon-ng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entities connect?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/ usernames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Sherlock, Maigret, WhatsMyName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does this identity appear?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/ breaches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Hunter.io, Have I Been Pwned, holehe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contact &amp; exposure indicators exist?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ExifTool, Google Lens, TinEye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metadata or visual context exists?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82F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Wayback Machine, archive.today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E9EC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existed previously?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4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INVESTIGATOR TRADECRAFT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OPSEC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process for protecting the investigator's identity, client, and findings during collection.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85816" cy="1051560"/>
          </a:xfrm>
          <a:prstGeom prst="roundRect">
            <a:avLst>
              <a:gd name="adj" fmla="val 6957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313432"/>
            <a:ext cx="548640" cy="54864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13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185416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what to protect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3040" y="2560320"/>
            <a:ext cx="4288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client, purpose, tooling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4496" y="2057400"/>
            <a:ext cx="5385816" cy="1051560"/>
          </a:xfrm>
          <a:prstGeom prst="roundRect">
            <a:avLst>
              <a:gd name="adj" fmla="val 6957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37376" y="2313432"/>
            <a:ext cx="548640" cy="54864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2313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68896" y="2185416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observers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68896" y="2560320"/>
            <a:ext cx="4288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platform, third parties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85816" cy="1051560"/>
          </a:xfrm>
          <a:prstGeom prst="roundRect">
            <a:avLst>
              <a:gd name="adj" fmla="val 6957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547872"/>
            <a:ext cx="548640" cy="54864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19856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exposure points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4288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address, browser fingerprint, account linkage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54496" y="3291840"/>
            <a:ext cx="5385816" cy="1051560"/>
          </a:xfrm>
          <a:prstGeom prst="roundRect">
            <a:avLst>
              <a:gd name="adj" fmla="val 6957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37376" y="3547872"/>
            <a:ext cx="548640" cy="54864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8896" y="3419856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controls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68896" y="3794760"/>
            <a:ext cx="4288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VPN/Tor, separate identities, minimal footprint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5385816" cy="1051560"/>
          </a:xfrm>
          <a:prstGeom prst="roundRect">
            <a:avLst>
              <a:gd name="adj" fmla="val 6957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782312"/>
            <a:ext cx="548640" cy="54864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782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654296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controls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463040" y="5029200"/>
            <a:ext cx="4288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isolation before each session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54496" y="4526280"/>
            <a:ext cx="5385816" cy="1051560"/>
          </a:xfrm>
          <a:prstGeom prst="roundRect">
            <a:avLst>
              <a:gd name="adj" fmla="val 6957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37376" y="4782312"/>
            <a:ext cx="548640" cy="548640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4782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68896" y="4654296"/>
            <a:ext cx="4288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improve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168896" y="5029200"/>
            <a:ext cx="4288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Post-engagement retrospective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INVESTIGATOR TRADECRAFT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93392"/>
            <a:ext cx="530352" cy="530352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933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details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993392"/>
            <a:ext cx="530352" cy="530352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933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182880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044952"/>
            <a:ext cx="530352" cy="530352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44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88036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requirements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28803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3044952"/>
            <a:ext cx="530352" cy="530352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044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23760" y="288036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(evidence, confidence, impact)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096512"/>
            <a:ext cx="530352" cy="530352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0965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9319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Attack-surface map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39319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4096512"/>
            <a:ext cx="530352" cy="530352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0965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39319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148072"/>
            <a:ext cx="530352" cy="530352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148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17320" y="49834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498348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1C2436"/>
          </a:solidFill>
          <a:ln w="12700">
            <a:solidFill>
              <a:srgbClr val="1C24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5148072"/>
            <a:ext cx="530352" cy="530352"/>
          </a:xfrm>
          <a:prstGeom prst="ellipse">
            <a:avLst/>
          </a:prstGeom>
          <a:solidFill>
            <a:srgbClr val="1C2436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5148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23760" y="49834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(commands, screenshots, sources)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55448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is structured analysis, not just running tools — value comes from validated, correlated, actionable intelligence.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45720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69748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 OSINT to build an attack path; defenders use the same techniques to shrink their exposure.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45720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84048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search result is not proof — validate ownership, recency, source reliability, and context.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45720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98348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9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ends where authentication, exploitation, or unauthorized access begins.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OSINT FOR HACKERS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2026-09-24T07:21:58Z</dcterms:created>
  <dcterms:modified xsi:type="dcterms:W3CDTF">2026-09-24T07:21:58Z</dcterms:modified>
</cp:coreProperties>
</file>
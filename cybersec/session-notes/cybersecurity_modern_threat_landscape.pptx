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2331720"/>
            <a:ext cx="1005840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Cybersecurity for Hackers</a:t>
            </a:r>
            <a:endParaRPr lang="en-US" sz="4000" dirty="0"/>
          </a:p>
        </p:txBody>
      </p:sp>
      <p:sp>
        <p:nvSpPr>
          <p:cNvPr id="3" name="Text 1"/>
          <p:cNvSpPr/>
          <p:nvPr/>
        </p:nvSpPr>
        <p:spPr>
          <a:xfrm>
            <a:off x="640080" y="2999232"/>
            <a:ext cx="10058400" cy="548640"/>
          </a:xfrm>
          <a:prstGeom prst="rect">
            <a:avLst/>
          </a:prstGeom>
          <a:noFill/>
          <a:ln/>
        </p:spPr>
        <p:txBody>
          <a:bodyPr wrap="square" lIns="0" tIns="0" rIns="0" bIns="0" rtlCol="0" anchor="ctr"/>
          <a:lstStyle/>
          <a:p>
            <a:pPr indent="0" marL="0">
              <a:buNone/>
            </a:pPr>
            <a:r>
              <a:rPr lang="en-US" sz="2600" b="1" dirty="0">
                <a:solidFill>
                  <a:srgbClr val="2ECC71"/>
                </a:solidFill>
                <a:latin typeface="Cambria" pitchFamily="34" charset="0"/>
                <a:ea typeface="Cambria" pitchFamily="34" charset="-122"/>
                <a:cs typeface="Cambria" pitchFamily="34" charset="-120"/>
              </a:rPr>
              <a:t>The Modern Threat Landscape</a:t>
            </a:r>
            <a:endParaRPr lang="en-US" sz="2600" dirty="0"/>
          </a:p>
        </p:txBody>
      </p:sp>
      <p:sp>
        <p:nvSpPr>
          <p:cNvPr id="4" name="Shape 2"/>
          <p:cNvSpPr/>
          <p:nvPr/>
        </p:nvSpPr>
        <p:spPr>
          <a:xfrm>
            <a:off x="658368" y="3639312"/>
            <a:ext cx="1188720" cy="41148"/>
          </a:xfrm>
          <a:prstGeom prst="rect">
            <a:avLst/>
          </a:prstGeom>
          <a:solidFill>
            <a:srgbClr val="2ECC71"/>
          </a:solidFill>
          <a:ln/>
        </p:spPr>
      </p:sp>
      <p:sp>
        <p:nvSpPr>
          <p:cNvPr id="5" name="Text 3"/>
          <p:cNvSpPr/>
          <p:nvPr/>
        </p:nvSpPr>
        <p:spPr>
          <a:xfrm>
            <a:off x="640080" y="3886200"/>
            <a:ext cx="8412480" cy="548640"/>
          </a:xfrm>
          <a:prstGeom prst="rect">
            <a:avLst/>
          </a:prstGeom>
          <a:noFill/>
          <a:ln/>
        </p:spPr>
        <p:txBody>
          <a:bodyPr wrap="square" lIns="0" tIns="0" rIns="0" bIns="0" rtlCol="0" anchor="ctr"/>
          <a:lstStyle/>
          <a:p>
            <a:pPr indent="0" marL="0">
              <a:buNone/>
            </a:pPr>
            <a:r>
              <a:rPr lang="en-US" sz="1400" dirty="0">
                <a:solidFill>
                  <a:srgbClr val="C9D4E6"/>
                </a:solidFill>
                <a:latin typeface="Calibri" pitchFamily="34" charset="0"/>
                <a:ea typeface="Calibri" pitchFamily="34" charset="-122"/>
                <a:cs typeface="Calibri" pitchFamily="34" charset="-120"/>
              </a:rPr>
              <a:t>How attacks, attackers, and defenses have changed — and what that means for ethical hackers.</a:t>
            </a:r>
            <a:endParaRPr lang="en-US" sz="1400" dirty="0"/>
          </a:p>
        </p:txBody>
      </p:sp>
      <p:sp>
        <p:nvSpPr>
          <p:cNvPr id="6" name="Text 4"/>
          <p:cNvSpPr/>
          <p:nvPr/>
        </p:nvSpPr>
        <p:spPr>
          <a:xfrm>
            <a:off x="640080" y="6035040"/>
            <a:ext cx="9144000" cy="365760"/>
          </a:xfrm>
          <a:prstGeom prst="rect">
            <a:avLst/>
          </a:prstGeom>
          <a:noFill/>
          <a:ln/>
        </p:spPr>
        <p:txBody>
          <a:bodyPr wrap="square" lIns="0" tIns="0" rIns="0" bIns="0" rtlCol="0" anchor="ctr"/>
          <a:lstStyle/>
          <a:p>
            <a:pPr indent="0" marL="0">
              <a:buNone/>
            </a:pPr>
            <a:r>
              <a:rPr lang="en-US" sz="1100" dirty="0">
                <a:solidFill>
                  <a:srgbClr val="8E9BB5"/>
                </a:solidFill>
                <a:latin typeface="Calibri" pitchFamily="34" charset="0"/>
                <a:ea typeface="Calibri" pitchFamily="34" charset="-122"/>
                <a:cs typeface="Calibri" pitchFamily="34" charset="-120"/>
              </a:rPr>
              <a:t>Identity attacks  •  Cloud &amp; supply chain  •  AI as weapon and target</a:t>
            </a:r>
            <a:endParaRPr lang="en-US" sz="1100" dirty="0"/>
          </a:p>
        </p:txBody>
      </p:sp>
      <p:sp>
        <p:nvSpPr>
          <p:cNvPr id="7" name="Text 5"/>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8E9BB5"/>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8" name="Text 6"/>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8E9BB5"/>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What Is Cybersecurity?</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Protecting systems, data, and people from digital harm.</a:t>
            </a:r>
            <a:endParaRPr lang="en-US" sz="1200" dirty="0"/>
          </a:p>
        </p:txBody>
      </p:sp>
      <p:sp>
        <p:nvSpPr>
          <p:cNvPr id="4" name="Shape 2"/>
          <p:cNvSpPr/>
          <p:nvPr/>
        </p:nvSpPr>
        <p:spPr>
          <a:xfrm>
            <a:off x="502920" y="1417320"/>
            <a:ext cx="3544824" cy="2468880"/>
          </a:xfrm>
          <a:prstGeom prst="roundRect">
            <a:avLst>
              <a:gd name="adj" fmla="val 2963"/>
            </a:avLst>
          </a:prstGeom>
          <a:solidFill>
            <a:srgbClr val="F2F5FA"/>
          </a:solidFill>
          <a:ln w="9525">
            <a:solidFill>
              <a:srgbClr val="C9D4E6"/>
            </a:solidFill>
            <a:prstDash val="solid"/>
          </a:ln>
        </p:spPr>
      </p:sp>
      <p:sp>
        <p:nvSpPr>
          <p:cNvPr id="5" name="Shape 3"/>
          <p:cNvSpPr/>
          <p:nvPr/>
        </p:nvSpPr>
        <p:spPr>
          <a:xfrm>
            <a:off x="731520" y="1618488"/>
            <a:ext cx="1828800" cy="310896"/>
          </a:xfrm>
          <a:prstGeom prst="roundRect">
            <a:avLst>
              <a:gd name="adj" fmla="val 17647"/>
            </a:avLst>
          </a:prstGeom>
          <a:solidFill>
            <a:srgbClr val="1B2A4A"/>
          </a:solidFill>
          <a:ln/>
        </p:spPr>
      </p:sp>
      <p:sp>
        <p:nvSpPr>
          <p:cNvPr id="6" name="Text 4"/>
          <p:cNvSpPr/>
          <p:nvPr/>
        </p:nvSpPr>
        <p:spPr>
          <a:xfrm>
            <a:off x="731520" y="1618488"/>
            <a:ext cx="18288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CONFIDENTIALITY</a:t>
            </a:r>
            <a:endParaRPr lang="en-US" sz="1100" dirty="0"/>
          </a:p>
        </p:txBody>
      </p:sp>
      <p:sp>
        <p:nvSpPr>
          <p:cNvPr id="7" name="Text 5"/>
          <p:cNvSpPr/>
          <p:nvPr/>
        </p:nvSpPr>
        <p:spPr>
          <a:xfrm>
            <a:off x="731520" y="2039112"/>
            <a:ext cx="3087624"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Confidentiality</a:t>
            </a:r>
            <a:endParaRPr lang="en-US" sz="1500" dirty="0"/>
          </a:p>
        </p:txBody>
      </p:sp>
      <p:sp>
        <p:nvSpPr>
          <p:cNvPr id="8" name="Text 6"/>
          <p:cNvSpPr/>
          <p:nvPr/>
        </p:nvSpPr>
        <p:spPr>
          <a:xfrm>
            <a:off x="731520" y="2404872"/>
            <a:ext cx="3087624" cy="1280160"/>
          </a:xfrm>
          <a:prstGeom prst="rect">
            <a:avLst/>
          </a:prstGeom>
          <a:noFill/>
          <a:ln/>
        </p:spPr>
        <p:txBody>
          <a:bodyPr wrap="square" lIns="0" tIns="0" rIns="0" bIns="0" rtlCol="0" anchor="ctr"/>
          <a:lstStyle/>
          <a:p>
            <a:pPr indent="0" marL="0">
              <a:lnSpc>
                <a:spcPct val="108000"/>
              </a:lnSpc>
              <a:buNone/>
            </a:pPr>
            <a:r>
              <a:rPr lang="en-US" sz="1050" dirty="0">
                <a:solidFill>
                  <a:srgbClr val="5A6472"/>
                </a:solidFill>
                <a:latin typeface="Calibri" pitchFamily="34" charset="0"/>
                <a:ea typeface="Calibri" pitchFamily="34" charset="-122"/>
                <a:cs typeface="Calibri" pitchFamily="34" charset="-120"/>
              </a:rPr>
              <a:t>Keeping secrets safe. Only the right people can see the data.</a:t>
            </a:r>
            <a:endParaRPr lang="en-US" sz="1050" dirty="0"/>
          </a:p>
          <a:p>
            <a:pPr indent="0" marL="0">
              <a:lnSpc>
                <a:spcPct val="108000"/>
              </a:lnSpc>
              <a:buNone/>
            </a:pPr>
            <a:endParaRPr lang="en-US" sz="1050" dirty="0"/>
          </a:p>
          <a:p>
            <a:pPr indent="0" marL="0">
              <a:lnSpc>
                <a:spcPct val="108000"/>
              </a:lnSpc>
              <a:buNone/>
            </a:pPr>
            <a:r>
              <a:rPr lang="en-US" sz="1050" dirty="0">
                <a:solidFill>
                  <a:srgbClr val="5A6472"/>
                </a:solidFill>
                <a:latin typeface="Calibri" pitchFamily="34" charset="0"/>
                <a:ea typeface="Calibri" pitchFamily="34" charset="-122"/>
                <a:cs typeface="Calibri" pitchFamily="34" charset="-120"/>
              </a:rPr>
              <a:t>Example: a locked diary.</a:t>
            </a:r>
            <a:endParaRPr lang="en-US" sz="1050" dirty="0"/>
          </a:p>
        </p:txBody>
      </p:sp>
      <p:sp>
        <p:nvSpPr>
          <p:cNvPr id="9" name="Shape 7"/>
          <p:cNvSpPr/>
          <p:nvPr/>
        </p:nvSpPr>
        <p:spPr>
          <a:xfrm>
            <a:off x="4322064" y="1417320"/>
            <a:ext cx="3544824" cy="2468880"/>
          </a:xfrm>
          <a:prstGeom prst="roundRect">
            <a:avLst>
              <a:gd name="adj" fmla="val 2963"/>
            </a:avLst>
          </a:prstGeom>
          <a:solidFill>
            <a:srgbClr val="F2F5FA"/>
          </a:solidFill>
          <a:ln w="9525">
            <a:solidFill>
              <a:srgbClr val="C9D4E6"/>
            </a:solidFill>
            <a:prstDash val="solid"/>
          </a:ln>
        </p:spPr>
      </p:sp>
      <p:sp>
        <p:nvSpPr>
          <p:cNvPr id="10" name="Shape 8"/>
          <p:cNvSpPr/>
          <p:nvPr/>
        </p:nvSpPr>
        <p:spPr>
          <a:xfrm>
            <a:off x="4550664" y="1618488"/>
            <a:ext cx="1828800" cy="310896"/>
          </a:xfrm>
          <a:prstGeom prst="roundRect">
            <a:avLst>
              <a:gd name="adj" fmla="val 17647"/>
            </a:avLst>
          </a:prstGeom>
          <a:solidFill>
            <a:srgbClr val="1B2A4A"/>
          </a:solidFill>
          <a:ln/>
        </p:spPr>
      </p:sp>
      <p:sp>
        <p:nvSpPr>
          <p:cNvPr id="11" name="Text 9"/>
          <p:cNvSpPr/>
          <p:nvPr/>
        </p:nvSpPr>
        <p:spPr>
          <a:xfrm>
            <a:off x="4550664" y="1618488"/>
            <a:ext cx="18288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INTEGRITY</a:t>
            </a:r>
            <a:endParaRPr lang="en-US" sz="1100" dirty="0"/>
          </a:p>
        </p:txBody>
      </p:sp>
      <p:sp>
        <p:nvSpPr>
          <p:cNvPr id="12" name="Text 10"/>
          <p:cNvSpPr/>
          <p:nvPr/>
        </p:nvSpPr>
        <p:spPr>
          <a:xfrm>
            <a:off x="4550664" y="2039112"/>
            <a:ext cx="3087624"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Integrity</a:t>
            </a:r>
            <a:endParaRPr lang="en-US" sz="1500" dirty="0"/>
          </a:p>
        </p:txBody>
      </p:sp>
      <p:sp>
        <p:nvSpPr>
          <p:cNvPr id="13" name="Text 11"/>
          <p:cNvSpPr/>
          <p:nvPr/>
        </p:nvSpPr>
        <p:spPr>
          <a:xfrm>
            <a:off x="4550664" y="2404872"/>
            <a:ext cx="3087624" cy="1280160"/>
          </a:xfrm>
          <a:prstGeom prst="rect">
            <a:avLst/>
          </a:prstGeom>
          <a:noFill/>
          <a:ln/>
        </p:spPr>
        <p:txBody>
          <a:bodyPr wrap="square" lIns="0" tIns="0" rIns="0" bIns="0" rtlCol="0" anchor="ctr"/>
          <a:lstStyle/>
          <a:p>
            <a:pPr indent="0" marL="0">
              <a:lnSpc>
                <a:spcPct val="108000"/>
              </a:lnSpc>
              <a:buNone/>
            </a:pPr>
            <a:r>
              <a:rPr lang="en-US" sz="1050" dirty="0">
                <a:solidFill>
                  <a:srgbClr val="5A6472"/>
                </a:solidFill>
                <a:latin typeface="Calibri" pitchFamily="34" charset="0"/>
                <a:ea typeface="Calibri" pitchFamily="34" charset="-122"/>
                <a:cs typeface="Calibri" pitchFamily="34" charset="-120"/>
              </a:rPr>
              <a:t>Keeping data trustworthy. Nothing is changed without permission.</a:t>
            </a:r>
            <a:endParaRPr lang="en-US" sz="1050" dirty="0"/>
          </a:p>
          <a:p>
            <a:pPr indent="0" marL="0">
              <a:lnSpc>
                <a:spcPct val="108000"/>
              </a:lnSpc>
              <a:buNone/>
            </a:pPr>
            <a:endParaRPr lang="en-US" sz="1050" dirty="0"/>
          </a:p>
          <a:p>
            <a:pPr indent="0" marL="0">
              <a:lnSpc>
                <a:spcPct val="108000"/>
              </a:lnSpc>
              <a:buNone/>
            </a:pPr>
            <a:r>
              <a:rPr lang="en-US" sz="1050" dirty="0">
                <a:solidFill>
                  <a:srgbClr val="5A6472"/>
                </a:solidFill>
                <a:latin typeface="Calibri" pitchFamily="34" charset="0"/>
                <a:ea typeface="Calibri" pitchFamily="34" charset="-122"/>
                <a:cs typeface="Calibri" pitchFamily="34" charset="-120"/>
              </a:rPr>
              <a:t>Example: no one edits your grade.</a:t>
            </a:r>
            <a:endParaRPr lang="en-US" sz="1050" dirty="0"/>
          </a:p>
        </p:txBody>
      </p:sp>
      <p:sp>
        <p:nvSpPr>
          <p:cNvPr id="14" name="Shape 12"/>
          <p:cNvSpPr/>
          <p:nvPr/>
        </p:nvSpPr>
        <p:spPr>
          <a:xfrm>
            <a:off x="8141208" y="1417320"/>
            <a:ext cx="3544824" cy="2468880"/>
          </a:xfrm>
          <a:prstGeom prst="roundRect">
            <a:avLst>
              <a:gd name="adj" fmla="val 2963"/>
            </a:avLst>
          </a:prstGeom>
          <a:solidFill>
            <a:srgbClr val="F2F5FA"/>
          </a:solidFill>
          <a:ln w="9525">
            <a:solidFill>
              <a:srgbClr val="C9D4E6"/>
            </a:solidFill>
            <a:prstDash val="solid"/>
          </a:ln>
        </p:spPr>
      </p:sp>
      <p:sp>
        <p:nvSpPr>
          <p:cNvPr id="15" name="Shape 13"/>
          <p:cNvSpPr/>
          <p:nvPr/>
        </p:nvSpPr>
        <p:spPr>
          <a:xfrm>
            <a:off x="8369808" y="1618488"/>
            <a:ext cx="1828800" cy="310896"/>
          </a:xfrm>
          <a:prstGeom prst="roundRect">
            <a:avLst>
              <a:gd name="adj" fmla="val 17647"/>
            </a:avLst>
          </a:prstGeom>
          <a:solidFill>
            <a:srgbClr val="1B2A4A"/>
          </a:solidFill>
          <a:ln/>
        </p:spPr>
      </p:sp>
      <p:sp>
        <p:nvSpPr>
          <p:cNvPr id="16" name="Text 14"/>
          <p:cNvSpPr/>
          <p:nvPr/>
        </p:nvSpPr>
        <p:spPr>
          <a:xfrm>
            <a:off x="8369808" y="1618488"/>
            <a:ext cx="18288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AVAILABILITY</a:t>
            </a:r>
            <a:endParaRPr lang="en-US" sz="1100" dirty="0"/>
          </a:p>
        </p:txBody>
      </p:sp>
      <p:sp>
        <p:nvSpPr>
          <p:cNvPr id="17" name="Text 15"/>
          <p:cNvSpPr/>
          <p:nvPr/>
        </p:nvSpPr>
        <p:spPr>
          <a:xfrm>
            <a:off x="8369808" y="2039112"/>
            <a:ext cx="3087624"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Availability</a:t>
            </a:r>
            <a:endParaRPr lang="en-US" sz="1500" dirty="0"/>
          </a:p>
        </p:txBody>
      </p:sp>
      <p:sp>
        <p:nvSpPr>
          <p:cNvPr id="18" name="Text 16"/>
          <p:cNvSpPr/>
          <p:nvPr/>
        </p:nvSpPr>
        <p:spPr>
          <a:xfrm>
            <a:off x="8369808" y="2404872"/>
            <a:ext cx="3087624" cy="1280160"/>
          </a:xfrm>
          <a:prstGeom prst="rect">
            <a:avLst/>
          </a:prstGeom>
          <a:noFill/>
          <a:ln/>
        </p:spPr>
        <p:txBody>
          <a:bodyPr wrap="square" lIns="0" tIns="0" rIns="0" bIns="0" rtlCol="0" anchor="ctr"/>
          <a:lstStyle/>
          <a:p>
            <a:pPr indent="0" marL="0">
              <a:lnSpc>
                <a:spcPct val="108000"/>
              </a:lnSpc>
              <a:buNone/>
            </a:pPr>
            <a:r>
              <a:rPr lang="en-US" sz="1050" dirty="0">
                <a:solidFill>
                  <a:srgbClr val="5A6472"/>
                </a:solidFill>
                <a:latin typeface="Calibri" pitchFamily="34" charset="0"/>
                <a:ea typeface="Calibri" pitchFamily="34" charset="-122"/>
                <a:cs typeface="Calibri" pitchFamily="34" charset="-120"/>
              </a:rPr>
              <a:t>Keeping systems up. Services work when you need them.</a:t>
            </a:r>
            <a:endParaRPr lang="en-US" sz="1050" dirty="0"/>
          </a:p>
          <a:p>
            <a:pPr indent="0" marL="0">
              <a:lnSpc>
                <a:spcPct val="108000"/>
              </a:lnSpc>
              <a:buNone/>
            </a:pPr>
            <a:endParaRPr lang="en-US" sz="1050" dirty="0"/>
          </a:p>
          <a:p>
            <a:pPr indent="0" marL="0">
              <a:lnSpc>
                <a:spcPct val="108000"/>
              </a:lnSpc>
              <a:buNone/>
            </a:pPr>
            <a:r>
              <a:rPr lang="en-US" sz="1050" dirty="0">
                <a:solidFill>
                  <a:srgbClr val="5A6472"/>
                </a:solidFill>
                <a:latin typeface="Calibri" pitchFamily="34" charset="0"/>
                <a:ea typeface="Calibri" pitchFamily="34" charset="-122"/>
                <a:cs typeface="Calibri" pitchFamily="34" charset="-120"/>
              </a:rPr>
              <a:t>Example: a website that stays online.</a:t>
            </a:r>
            <a:endParaRPr lang="en-US" sz="1050" dirty="0"/>
          </a:p>
        </p:txBody>
      </p:sp>
      <p:sp>
        <p:nvSpPr>
          <p:cNvPr id="19" name="Shape 17"/>
          <p:cNvSpPr/>
          <p:nvPr/>
        </p:nvSpPr>
        <p:spPr>
          <a:xfrm>
            <a:off x="502920" y="4343400"/>
            <a:ext cx="11183112" cy="1417320"/>
          </a:xfrm>
          <a:prstGeom prst="roundRect">
            <a:avLst>
              <a:gd name="adj" fmla="val 5161"/>
            </a:avLst>
          </a:prstGeom>
          <a:solidFill>
            <a:srgbClr val="F2F5FA"/>
          </a:solidFill>
          <a:ln/>
        </p:spPr>
      </p:sp>
      <p:sp>
        <p:nvSpPr>
          <p:cNvPr id="20" name="Text 18"/>
          <p:cNvSpPr/>
          <p:nvPr/>
        </p:nvSpPr>
        <p:spPr>
          <a:xfrm>
            <a:off x="822960" y="4343400"/>
            <a:ext cx="10543032" cy="1417320"/>
          </a:xfrm>
          <a:prstGeom prst="rect">
            <a:avLst/>
          </a:prstGeom>
          <a:noFill/>
          <a:ln/>
        </p:spPr>
        <p:txBody>
          <a:bodyPr wrap="square" lIns="0" tIns="0" rIns="0" bIns="0" rtlCol="0" anchor="ctr"/>
          <a:lstStyle/>
          <a:p>
            <a:pPr algn="l" indent="0" marL="0">
              <a:lnSpc>
                <a:spcPct val="115000"/>
              </a:lnSpc>
              <a:buNone/>
            </a:pPr>
            <a:r>
              <a:rPr lang="en-US" sz="1350" i="1" dirty="0">
                <a:solidFill>
                  <a:srgbClr val="1B2A4A"/>
                </a:solidFill>
                <a:latin typeface="Cambria" pitchFamily="34" charset="0"/>
                <a:ea typeface="Cambria" pitchFamily="34" charset="-122"/>
                <a:cs typeface="Cambria" pitchFamily="34" charset="-120"/>
              </a:rPr>
              <a:t>Classic CIA still holds — but the target has shifted. Today an attacker is as likely to go after an identity, an API token, or a software dependency as a password.</a:t>
            </a:r>
            <a:endParaRPr lang="en-US" sz="1350" dirty="0"/>
          </a:p>
        </p:txBody>
      </p:sp>
      <p:sp>
        <p:nvSpPr>
          <p:cNvPr id="21" name="Text 19"/>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22" name="Text 20"/>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How Cyber Threats Are Evolving</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The attack surface has moved beyond the single computer.</a:t>
            </a:r>
            <a:endParaRPr lang="en-US" sz="1200" dirty="0"/>
          </a:p>
        </p:txBody>
      </p:sp>
      <p:sp>
        <p:nvSpPr>
          <p:cNvPr id="4" name="Shape 2"/>
          <p:cNvSpPr/>
          <p:nvPr/>
        </p:nvSpPr>
        <p:spPr>
          <a:xfrm>
            <a:off x="502920" y="1417320"/>
            <a:ext cx="5509260" cy="688086"/>
          </a:xfrm>
          <a:prstGeom prst="roundRect">
            <a:avLst>
              <a:gd name="adj" fmla="val 7973"/>
            </a:avLst>
          </a:prstGeom>
          <a:solidFill>
            <a:srgbClr val="F2F5FA"/>
          </a:solidFill>
          <a:ln w="9525">
            <a:solidFill>
              <a:srgbClr val="C9D4E6"/>
            </a:solidFill>
            <a:prstDash val="solid"/>
          </a:ln>
        </p:spPr>
      </p:sp>
      <p:sp>
        <p:nvSpPr>
          <p:cNvPr id="5" name="Text 3"/>
          <p:cNvSpPr/>
          <p:nvPr/>
        </p:nvSpPr>
        <p:spPr>
          <a:xfrm>
            <a:off x="594360" y="1417320"/>
            <a:ext cx="5326380" cy="688086"/>
          </a:xfrm>
          <a:prstGeom prst="rect">
            <a:avLst/>
          </a:prstGeom>
          <a:noFill/>
          <a:ln/>
        </p:spPr>
        <p:txBody>
          <a:bodyPr wrap="square" lIns="0" tIns="0" rIns="0" bIns="0" rtlCol="0" anchor="ctr"/>
          <a:lstStyle/>
          <a:p>
            <a:pPr algn="ctr" indent="0" marL="0">
              <a:lnSpc>
                <a:spcPct val="95000"/>
              </a:lnSpc>
              <a:buNone/>
            </a:pPr>
            <a:r>
              <a:rPr lang="en-US" sz="1200" b="1" dirty="0">
                <a:solidFill>
                  <a:srgbClr val="1B2A4A"/>
                </a:solidFill>
                <a:latin typeface="Calibri" pitchFamily="34" charset="0"/>
                <a:ea typeface="Calibri" pitchFamily="34" charset="-122"/>
                <a:cs typeface="Calibri" pitchFamily="34" charset="-120"/>
              </a:rPr>
              <a:t>Attacks are becoming more automated through generative AI</a:t>
            </a:r>
            <a:endParaRPr lang="en-US" sz="1200" dirty="0"/>
          </a:p>
        </p:txBody>
      </p:sp>
      <p:sp>
        <p:nvSpPr>
          <p:cNvPr id="6" name="Shape 4"/>
          <p:cNvSpPr/>
          <p:nvPr/>
        </p:nvSpPr>
        <p:spPr>
          <a:xfrm>
            <a:off x="6176772" y="1417320"/>
            <a:ext cx="5509260" cy="688086"/>
          </a:xfrm>
          <a:prstGeom prst="roundRect">
            <a:avLst>
              <a:gd name="adj" fmla="val 7973"/>
            </a:avLst>
          </a:prstGeom>
          <a:solidFill>
            <a:srgbClr val="F2F5FA"/>
          </a:solidFill>
          <a:ln w="9525">
            <a:solidFill>
              <a:srgbClr val="C9D4E6"/>
            </a:solidFill>
            <a:prstDash val="solid"/>
          </a:ln>
        </p:spPr>
      </p:sp>
      <p:sp>
        <p:nvSpPr>
          <p:cNvPr id="7" name="Text 5"/>
          <p:cNvSpPr/>
          <p:nvPr/>
        </p:nvSpPr>
        <p:spPr>
          <a:xfrm>
            <a:off x="6268212" y="1417320"/>
            <a:ext cx="5326380" cy="688086"/>
          </a:xfrm>
          <a:prstGeom prst="rect">
            <a:avLst/>
          </a:prstGeom>
          <a:noFill/>
          <a:ln/>
        </p:spPr>
        <p:txBody>
          <a:bodyPr wrap="square" lIns="0" tIns="0" rIns="0" bIns="0" rtlCol="0" anchor="ctr"/>
          <a:lstStyle/>
          <a:p>
            <a:pPr algn="ctr" indent="0" marL="0">
              <a:lnSpc>
                <a:spcPct val="95000"/>
              </a:lnSpc>
              <a:buNone/>
            </a:pPr>
            <a:r>
              <a:rPr lang="en-US" sz="1200" b="1" dirty="0">
                <a:solidFill>
                  <a:srgbClr val="1B2A4A"/>
                </a:solidFill>
                <a:latin typeface="Calibri" pitchFamily="34" charset="0"/>
                <a:ea typeface="Calibri" pitchFamily="34" charset="-122"/>
                <a:cs typeface="Calibri" pitchFamily="34" charset="-120"/>
              </a:rPr>
              <a:t>Identity is a primary attack surface — not just passwords</a:t>
            </a:r>
            <a:endParaRPr lang="en-US" sz="1200" dirty="0"/>
          </a:p>
        </p:txBody>
      </p:sp>
      <p:sp>
        <p:nvSpPr>
          <p:cNvPr id="8" name="Shape 6"/>
          <p:cNvSpPr/>
          <p:nvPr/>
        </p:nvSpPr>
        <p:spPr>
          <a:xfrm>
            <a:off x="502920" y="2269998"/>
            <a:ext cx="5509260" cy="688086"/>
          </a:xfrm>
          <a:prstGeom prst="roundRect">
            <a:avLst>
              <a:gd name="adj" fmla="val 7973"/>
            </a:avLst>
          </a:prstGeom>
          <a:solidFill>
            <a:srgbClr val="F2F5FA"/>
          </a:solidFill>
          <a:ln w="9525">
            <a:solidFill>
              <a:srgbClr val="C9D4E6"/>
            </a:solidFill>
            <a:prstDash val="solid"/>
          </a:ln>
        </p:spPr>
      </p:sp>
      <p:sp>
        <p:nvSpPr>
          <p:cNvPr id="9" name="Text 7"/>
          <p:cNvSpPr/>
          <p:nvPr/>
        </p:nvSpPr>
        <p:spPr>
          <a:xfrm>
            <a:off x="594360" y="2269998"/>
            <a:ext cx="5326380" cy="688086"/>
          </a:xfrm>
          <a:prstGeom prst="rect">
            <a:avLst/>
          </a:prstGeom>
          <a:noFill/>
          <a:ln/>
        </p:spPr>
        <p:txBody>
          <a:bodyPr wrap="square" lIns="0" tIns="0" rIns="0" bIns="0" rtlCol="0" anchor="ctr"/>
          <a:lstStyle/>
          <a:p>
            <a:pPr algn="ctr" indent="0" marL="0">
              <a:lnSpc>
                <a:spcPct val="95000"/>
              </a:lnSpc>
              <a:buNone/>
            </a:pPr>
            <a:r>
              <a:rPr lang="en-US" sz="1200" b="1" dirty="0">
                <a:solidFill>
                  <a:srgbClr val="1B2A4A"/>
                </a:solidFill>
                <a:latin typeface="Calibri" pitchFamily="34" charset="0"/>
                <a:ea typeface="Calibri" pitchFamily="34" charset="-122"/>
                <a:cs typeface="Calibri" pitchFamily="34" charset="-120"/>
              </a:rPr>
              <a:t>Phishing now includes vishing, QR phishing, deepfakes, adversary-in-the-middle</a:t>
            </a:r>
            <a:endParaRPr lang="en-US" sz="1200" dirty="0"/>
          </a:p>
        </p:txBody>
      </p:sp>
      <p:sp>
        <p:nvSpPr>
          <p:cNvPr id="10" name="Shape 8"/>
          <p:cNvSpPr/>
          <p:nvPr/>
        </p:nvSpPr>
        <p:spPr>
          <a:xfrm>
            <a:off x="6176772" y="2269998"/>
            <a:ext cx="5509260" cy="688086"/>
          </a:xfrm>
          <a:prstGeom prst="roundRect">
            <a:avLst>
              <a:gd name="adj" fmla="val 7973"/>
            </a:avLst>
          </a:prstGeom>
          <a:solidFill>
            <a:srgbClr val="F2F5FA"/>
          </a:solidFill>
          <a:ln w="9525">
            <a:solidFill>
              <a:srgbClr val="C9D4E6"/>
            </a:solidFill>
            <a:prstDash val="solid"/>
          </a:ln>
        </p:spPr>
      </p:sp>
      <p:sp>
        <p:nvSpPr>
          <p:cNvPr id="11" name="Text 9"/>
          <p:cNvSpPr/>
          <p:nvPr/>
        </p:nvSpPr>
        <p:spPr>
          <a:xfrm>
            <a:off x="6268212" y="2269998"/>
            <a:ext cx="5326380" cy="688086"/>
          </a:xfrm>
          <a:prstGeom prst="rect">
            <a:avLst/>
          </a:prstGeom>
          <a:noFill/>
          <a:ln/>
        </p:spPr>
        <p:txBody>
          <a:bodyPr wrap="square" lIns="0" tIns="0" rIns="0" bIns="0" rtlCol="0" anchor="ctr"/>
          <a:lstStyle/>
          <a:p>
            <a:pPr algn="ctr" indent="0" marL="0">
              <a:lnSpc>
                <a:spcPct val="95000"/>
              </a:lnSpc>
              <a:buNone/>
            </a:pPr>
            <a:r>
              <a:rPr lang="en-US" sz="1200" b="1" dirty="0">
                <a:solidFill>
                  <a:srgbClr val="1B2A4A"/>
                </a:solidFill>
                <a:latin typeface="Calibri" pitchFamily="34" charset="0"/>
                <a:ea typeface="Calibri" pitchFamily="34" charset="-122"/>
                <a:cs typeface="Calibri" pitchFamily="34" charset="-120"/>
              </a:rPr>
              <a:t>Cloud accounts, OAuth tokens, sessions, APIs, CI/CD, and suppliers are common targets</a:t>
            </a:r>
            <a:endParaRPr lang="en-US" sz="1200" dirty="0"/>
          </a:p>
        </p:txBody>
      </p:sp>
      <p:sp>
        <p:nvSpPr>
          <p:cNvPr id="12" name="Shape 10"/>
          <p:cNvSpPr/>
          <p:nvPr/>
        </p:nvSpPr>
        <p:spPr>
          <a:xfrm>
            <a:off x="502920" y="3122676"/>
            <a:ext cx="5509260" cy="688086"/>
          </a:xfrm>
          <a:prstGeom prst="roundRect">
            <a:avLst>
              <a:gd name="adj" fmla="val 7973"/>
            </a:avLst>
          </a:prstGeom>
          <a:solidFill>
            <a:srgbClr val="F2F5FA"/>
          </a:solidFill>
          <a:ln w="9525">
            <a:solidFill>
              <a:srgbClr val="C9D4E6"/>
            </a:solidFill>
            <a:prstDash val="solid"/>
          </a:ln>
        </p:spPr>
      </p:sp>
      <p:sp>
        <p:nvSpPr>
          <p:cNvPr id="13" name="Text 11"/>
          <p:cNvSpPr/>
          <p:nvPr/>
        </p:nvSpPr>
        <p:spPr>
          <a:xfrm>
            <a:off x="594360" y="3122676"/>
            <a:ext cx="5326380" cy="688086"/>
          </a:xfrm>
          <a:prstGeom prst="rect">
            <a:avLst/>
          </a:prstGeom>
          <a:noFill/>
          <a:ln/>
        </p:spPr>
        <p:txBody>
          <a:bodyPr wrap="square" lIns="0" tIns="0" rIns="0" bIns="0" rtlCol="0" anchor="ctr"/>
          <a:lstStyle/>
          <a:p>
            <a:pPr algn="ctr" indent="0" marL="0">
              <a:lnSpc>
                <a:spcPct val="95000"/>
              </a:lnSpc>
              <a:buNone/>
            </a:pPr>
            <a:r>
              <a:rPr lang="en-US" sz="1200" b="1" dirty="0">
                <a:solidFill>
                  <a:srgbClr val="1B2A4A"/>
                </a:solidFill>
                <a:latin typeface="Calibri" pitchFamily="34" charset="0"/>
                <a:ea typeface="Calibri" pitchFamily="34" charset="-122"/>
                <a:cs typeface="Calibri" pitchFamily="34" charset="-120"/>
              </a:rPr>
              <a:t>Vulnerabilities are exploited faster after public disclosure</a:t>
            </a:r>
            <a:endParaRPr lang="en-US" sz="1200" dirty="0"/>
          </a:p>
        </p:txBody>
      </p:sp>
      <p:sp>
        <p:nvSpPr>
          <p:cNvPr id="14" name="Shape 12"/>
          <p:cNvSpPr/>
          <p:nvPr/>
        </p:nvSpPr>
        <p:spPr>
          <a:xfrm>
            <a:off x="6176772" y="3122676"/>
            <a:ext cx="5509260" cy="688086"/>
          </a:xfrm>
          <a:prstGeom prst="roundRect">
            <a:avLst>
              <a:gd name="adj" fmla="val 7973"/>
            </a:avLst>
          </a:prstGeom>
          <a:solidFill>
            <a:srgbClr val="F2F5FA"/>
          </a:solidFill>
          <a:ln w="9525">
            <a:solidFill>
              <a:srgbClr val="C9D4E6"/>
            </a:solidFill>
            <a:prstDash val="solid"/>
          </a:ln>
        </p:spPr>
      </p:sp>
      <p:sp>
        <p:nvSpPr>
          <p:cNvPr id="15" name="Text 13"/>
          <p:cNvSpPr/>
          <p:nvPr/>
        </p:nvSpPr>
        <p:spPr>
          <a:xfrm>
            <a:off x="6268212" y="3122676"/>
            <a:ext cx="5326380" cy="688086"/>
          </a:xfrm>
          <a:prstGeom prst="rect">
            <a:avLst/>
          </a:prstGeom>
          <a:noFill/>
          <a:ln/>
        </p:spPr>
        <p:txBody>
          <a:bodyPr wrap="square" lIns="0" tIns="0" rIns="0" bIns="0" rtlCol="0" anchor="ctr"/>
          <a:lstStyle/>
          <a:p>
            <a:pPr algn="ctr" indent="0" marL="0">
              <a:lnSpc>
                <a:spcPct val="95000"/>
              </a:lnSpc>
              <a:buNone/>
            </a:pPr>
            <a:r>
              <a:rPr lang="en-US" sz="1200" b="1" dirty="0">
                <a:solidFill>
                  <a:srgbClr val="1B2A4A"/>
                </a:solidFill>
                <a:latin typeface="Calibri" pitchFamily="34" charset="0"/>
                <a:ea typeface="Calibri" pitchFamily="34" charset="-122"/>
                <a:cs typeface="Calibri" pitchFamily="34" charset="-120"/>
              </a:rPr>
              <a:t>Ransomware has evolved into data theft and extortion, even without encryption</a:t>
            </a:r>
            <a:endParaRPr lang="en-US" sz="1200" dirty="0"/>
          </a:p>
        </p:txBody>
      </p:sp>
      <p:sp>
        <p:nvSpPr>
          <p:cNvPr id="16" name="Shape 14"/>
          <p:cNvSpPr/>
          <p:nvPr/>
        </p:nvSpPr>
        <p:spPr>
          <a:xfrm>
            <a:off x="502920" y="3975354"/>
            <a:ext cx="5509260" cy="688086"/>
          </a:xfrm>
          <a:prstGeom prst="roundRect">
            <a:avLst>
              <a:gd name="adj" fmla="val 7973"/>
            </a:avLst>
          </a:prstGeom>
          <a:solidFill>
            <a:srgbClr val="F2F5FA"/>
          </a:solidFill>
          <a:ln w="9525">
            <a:solidFill>
              <a:srgbClr val="C9D4E6"/>
            </a:solidFill>
            <a:prstDash val="solid"/>
          </a:ln>
        </p:spPr>
      </p:sp>
      <p:sp>
        <p:nvSpPr>
          <p:cNvPr id="17" name="Text 15"/>
          <p:cNvSpPr/>
          <p:nvPr/>
        </p:nvSpPr>
        <p:spPr>
          <a:xfrm>
            <a:off x="594360" y="3975354"/>
            <a:ext cx="5326380" cy="688086"/>
          </a:xfrm>
          <a:prstGeom prst="rect">
            <a:avLst/>
          </a:prstGeom>
          <a:noFill/>
          <a:ln/>
        </p:spPr>
        <p:txBody>
          <a:bodyPr wrap="square" lIns="0" tIns="0" rIns="0" bIns="0" rtlCol="0" anchor="ctr"/>
          <a:lstStyle/>
          <a:p>
            <a:pPr algn="ctr" indent="0" marL="0">
              <a:lnSpc>
                <a:spcPct val="95000"/>
              </a:lnSpc>
              <a:buNone/>
            </a:pPr>
            <a:r>
              <a:rPr lang="en-US" sz="1200" b="1" dirty="0">
                <a:solidFill>
                  <a:srgbClr val="1B2A4A"/>
                </a:solidFill>
                <a:latin typeface="Calibri" pitchFamily="34" charset="0"/>
                <a:ea typeface="Calibri" pitchFamily="34" charset="-122"/>
                <a:cs typeface="Calibri" pitchFamily="34" charset="-120"/>
              </a:rPr>
              <a:t>Cybercrime is professionalizing via Ransomware-as-a-Service and Phishing-as-a-Service</a:t>
            </a:r>
            <a:endParaRPr lang="en-US" sz="1200" dirty="0"/>
          </a:p>
        </p:txBody>
      </p:sp>
      <p:sp>
        <p:nvSpPr>
          <p:cNvPr id="18" name="Shape 16"/>
          <p:cNvSpPr/>
          <p:nvPr/>
        </p:nvSpPr>
        <p:spPr>
          <a:xfrm>
            <a:off x="6176772" y="3975354"/>
            <a:ext cx="5509260" cy="688086"/>
          </a:xfrm>
          <a:prstGeom prst="roundRect">
            <a:avLst>
              <a:gd name="adj" fmla="val 7973"/>
            </a:avLst>
          </a:prstGeom>
          <a:solidFill>
            <a:srgbClr val="F2F5FA"/>
          </a:solidFill>
          <a:ln w="9525">
            <a:solidFill>
              <a:srgbClr val="C9D4E6"/>
            </a:solidFill>
            <a:prstDash val="solid"/>
          </a:ln>
        </p:spPr>
      </p:sp>
      <p:sp>
        <p:nvSpPr>
          <p:cNvPr id="19" name="Text 17"/>
          <p:cNvSpPr/>
          <p:nvPr/>
        </p:nvSpPr>
        <p:spPr>
          <a:xfrm>
            <a:off x="6268212" y="3975354"/>
            <a:ext cx="5326380" cy="688086"/>
          </a:xfrm>
          <a:prstGeom prst="rect">
            <a:avLst/>
          </a:prstGeom>
          <a:noFill/>
          <a:ln/>
        </p:spPr>
        <p:txBody>
          <a:bodyPr wrap="square" lIns="0" tIns="0" rIns="0" bIns="0" rtlCol="0" anchor="ctr"/>
          <a:lstStyle/>
          <a:p>
            <a:pPr algn="ctr" indent="0" marL="0">
              <a:lnSpc>
                <a:spcPct val="95000"/>
              </a:lnSpc>
              <a:buNone/>
            </a:pPr>
            <a:r>
              <a:rPr lang="en-US" sz="1200" b="1" dirty="0">
                <a:solidFill>
                  <a:srgbClr val="1B2A4A"/>
                </a:solidFill>
                <a:latin typeface="Calibri" pitchFamily="34" charset="0"/>
                <a:ea typeface="Calibri" pitchFamily="34" charset="-122"/>
                <a:cs typeface="Calibri" pitchFamily="34" charset="-120"/>
              </a:rPr>
              <a:t>Attackers increasingly abuse legitimate tools instead of obvious malware</a:t>
            </a:r>
            <a:endParaRPr lang="en-US" sz="1200" dirty="0"/>
          </a:p>
        </p:txBody>
      </p:sp>
      <p:sp>
        <p:nvSpPr>
          <p:cNvPr id="20" name="Shape 18"/>
          <p:cNvSpPr/>
          <p:nvPr/>
        </p:nvSpPr>
        <p:spPr>
          <a:xfrm>
            <a:off x="502920" y="4892040"/>
            <a:ext cx="11183112" cy="1051560"/>
          </a:xfrm>
          <a:prstGeom prst="roundRect">
            <a:avLst>
              <a:gd name="adj" fmla="val 6957"/>
            </a:avLst>
          </a:prstGeom>
          <a:solidFill>
            <a:srgbClr val="1B2A4A"/>
          </a:solidFill>
          <a:ln/>
        </p:spPr>
      </p:sp>
      <p:sp>
        <p:nvSpPr>
          <p:cNvPr id="21" name="Text 19"/>
          <p:cNvSpPr/>
          <p:nvPr/>
        </p:nvSpPr>
        <p:spPr>
          <a:xfrm>
            <a:off x="822960" y="4892040"/>
            <a:ext cx="10543032" cy="1051560"/>
          </a:xfrm>
          <a:prstGeom prst="rect">
            <a:avLst/>
          </a:prstGeom>
          <a:noFill/>
          <a:ln/>
        </p:spPr>
        <p:txBody>
          <a:bodyPr wrap="square" lIns="0" tIns="0" rIns="0" bIns="0" rtlCol="0" anchor="ctr"/>
          <a:lstStyle/>
          <a:p>
            <a:pPr algn="l" indent="0" marL="0">
              <a:lnSpc>
                <a:spcPct val="115000"/>
              </a:lnSpc>
              <a:buNone/>
            </a:pPr>
            <a:r>
              <a:rPr lang="en-US" sz="1300" i="1" dirty="0">
                <a:solidFill>
                  <a:srgbClr val="FFFFFF"/>
                </a:solidFill>
                <a:latin typeface="Cambria" pitchFamily="34" charset="0"/>
                <a:ea typeface="Cambria" pitchFamily="34" charset="-122"/>
                <a:cs typeface="Cambria" pitchFamily="34" charset="-120"/>
              </a:rPr>
              <a:t>The attacker is no longer only trying to “hack a computer.” They are trying to control identities, trust relationships, software dependencies, and business processes.</a:t>
            </a:r>
            <a:endParaRPr lang="en-US" sz="1300" dirty="0"/>
          </a:p>
        </p:txBody>
      </p:sp>
      <p:sp>
        <p:nvSpPr>
          <p:cNvPr id="22" name="Text 20"/>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23" name="Text 21"/>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Who Are the Attackers?</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The core categories — still the foundation.</a:t>
            </a:r>
            <a:endParaRPr lang="en-US" sz="1200" dirty="0"/>
          </a:p>
        </p:txBody>
      </p:sp>
      <p:sp>
        <p:nvSpPr>
          <p:cNvPr id="4" name="Shape 2"/>
          <p:cNvSpPr/>
          <p:nvPr/>
        </p:nvSpPr>
        <p:spPr>
          <a:xfrm>
            <a:off x="502920" y="1417320"/>
            <a:ext cx="1417320" cy="749808"/>
          </a:xfrm>
          <a:prstGeom prst="roundRect">
            <a:avLst>
              <a:gd name="adj" fmla="val 8537"/>
            </a:avLst>
          </a:prstGeom>
          <a:solidFill>
            <a:srgbClr val="1B2A4A"/>
          </a:solidFill>
          <a:ln/>
        </p:spPr>
      </p:sp>
      <p:sp>
        <p:nvSpPr>
          <p:cNvPr id="5" name="Text 3"/>
          <p:cNvSpPr/>
          <p:nvPr/>
        </p:nvSpPr>
        <p:spPr>
          <a:xfrm>
            <a:off x="576072" y="1417320"/>
            <a:ext cx="1271016" cy="749808"/>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Script kiddies</a:t>
            </a:r>
            <a:endParaRPr lang="en-US" sz="1050" dirty="0"/>
          </a:p>
        </p:txBody>
      </p:sp>
      <p:sp>
        <p:nvSpPr>
          <p:cNvPr id="6" name="Shape 4"/>
          <p:cNvSpPr/>
          <p:nvPr/>
        </p:nvSpPr>
        <p:spPr>
          <a:xfrm>
            <a:off x="2057400" y="1417320"/>
            <a:ext cx="5486400" cy="749808"/>
          </a:xfrm>
          <a:prstGeom prst="roundRect">
            <a:avLst>
              <a:gd name="adj" fmla="val 8537"/>
            </a:avLst>
          </a:prstGeom>
          <a:solidFill>
            <a:srgbClr val="F2F5FA"/>
          </a:solidFill>
          <a:ln/>
        </p:spPr>
      </p:sp>
      <p:sp>
        <p:nvSpPr>
          <p:cNvPr id="7" name="Text 5"/>
          <p:cNvSpPr/>
          <p:nvPr/>
        </p:nvSpPr>
        <p:spPr>
          <a:xfrm>
            <a:off x="2240280" y="1417320"/>
            <a:ext cx="5120640" cy="749808"/>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Use ready-made tools; low skill, high noise.</a:t>
            </a:r>
            <a:endParaRPr lang="en-US" sz="1050" dirty="0"/>
          </a:p>
        </p:txBody>
      </p:sp>
      <p:sp>
        <p:nvSpPr>
          <p:cNvPr id="8" name="Shape 6"/>
          <p:cNvSpPr/>
          <p:nvPr/>
        </p:nvSpPr>
        <p:spPr>
          <a:xfrm>
            <a:off x="502920" y="2313432"/>
            <a:ext cx="1417320" cy="749808"/>
          </a:xfrm>
          <a:prstGeom prst="roundRect">
            <a:avLst>
              <a:gd name="adj" fmla="val 8537"/>
            </a:avLst>
          </a:prstGeom>
          <a:solidFill>
            <a:srgbClr val="1B2A4A"/>
          </a:solidFill>
          <a:ln/>
        </p:spPr>
      </p:sp>
      <p:sp>
        <p:nvSpPr>
          <p:cNvPr id="9" name="Text 7"/>
          <p:cNvSpPr/>
          <p:nvPr/>
        </p:nvSpPr>
        <p:spPr>
          <a:xfrm>
            <a:off x="576072" y="2313432"/>
            <a:ext cx="1271016" cy="749808"/>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Cybercriminals</a:t>
            </a:r>
            <a:endParaRPr lang="en-US" sz="1050" dirty="0"/>
          </a:p>
        </p:txBody>
      </p:sp>
      <p:sp>
        <p:nvSpPr>
          <p:cNvPr id="10" name="Shape 8"/>
          <p:cNvSpPr/>
          <p:nvPr/>
        </p:nvSpPr>
        <p:spPr>
          <a:xfrm>
            <a:off x="2057400" y="2313432"/>
            <a:ext cx="5486400" cy="749808"/>
          </a:xfrm>
          <a:prstGeom prst="roundRect">
            <a:avLst>
              <a:gd name="adj" fmla="val 8537"/>
            </a:avLst>
          </a:prstGeom>
          <a:solidFill>
            <a:srgbClr val="F2F5FA"/>
          </a:solidFill>
          <a:ln/>
        </p:spPr>
      </p:sp>
      <p:sp>
        <p:nvSpPr>
          <p:cNvPr id="11" name="Text 9"/>
          <p:cNvSpPr/>
          <p:nvPr/>
        </p:nvSpPr>
        <p:spPr>
          <a:xfrm>
            <a:off x="2240280" y="2313432"/>
            <a:ext cx="5120640" cy="749808"/>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In it for money — ransomware, fraud, stolen data.</a:t>
            </a:r>
            <a:endParaRPr lang="en-US" sz="1050" dirty="0"/>
          </a:p>
        </p:txBody>
      </p:sp>
      <p:sp>
        <p:nvSpPr>
          <p:cNvPr id="12" name="Shape 10"/>
          <p:cNvSpPr/>
          <p:nvPr/>
        </p:nvSpPr>
        <p:spPr>
          <a:xfrm>
            <a:off x="502920" y="3209544"/>
            <a:ext cx="1417320" cy="749808"/>
          </a:xfrm>
          <a:prstGeom prst="roundRect">
            <a:avLst>
              <a:gd name="adj" fmla="val 8537"/>
            </a:avLst>
          </a:prstGeom>
          <a:solidFill>
            <a:srgbClr val="1B2A4A"/>
          </a:solidFill>
          <a:ln/>
        </p:spPr>
      </p:sp>
      <p:sp>
        <p:nvSpPr>
          <p:cNvPr id="13" name="Text 11"/>
          <p:cNvSpPr/>
          <p:nvPr/>
        </p:nvSpPr>
        <p:spPr>
          <a:xfrm>
            <a:off x="576072" y="3209544"/>
            <a:ext cx="1271016" cy="749808"/>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Hacktivists</a:t>
            </a:r>
            <a:endParaRPr lang="en-US" sz="1050" dirty="0"/>
          </a:p>
        </p:txBody>
      </p:sp>
      <p:sp>
        <p:nvSpPr>
          <p:cNvPr id="14" name="Shape 12"/>
          <p:cNvSpPr/>
          <p:nvPr/>
        </p:nvSpPr>
        <p:spPr>
          <a:xfrm>
            <a:off x="2057400" y="3209544"/>
            <a:ext cx="5486400" cy="749808"/>
          </a:xfrm>
          <a:prstGeom prst="roundRect">
            <a:avLst>
              <a:gd name="adj" fmla="val 8537"/>
            </a:avLst>
          </a:prstGeom>
          <a:solidFill>
            <a:srgbClr val="F2F5FA"/>
          </a:solidFill>
          <a:ln/>
        </p:spPr>
      </p:sp>
      <p:sp>
        <p:nvSpPr>
          <p:cNvPr id="15" name="Text 13"/>
          <p:cNvSpPr/>
          <p:nvPr/>
        </p:nvSpPr>
        <p:spPr>
          <a:xfrm>
            <a:off x="2240280" y="3209544"/>
            <a:ext cx="5120640" cy="749808"/>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Driven by a cause or ideology, not profit.</a:t>
            </a:r>
            <a:endParaRPr lang="en-US" sz="1050" dirty="0"/>
          </a:p>
        </p:txBody>
      </p:sp>
      <p:sp>
        <p:nvSpPr>
          <p:cNvPr id="16" name="Shape 14"/>
          <p:cNvSpPr/>
          <p:nvPr/>
        </p:nvSpPr>
        <p:spPr>
          <a:xfrm>
            <a:off x="502920" y="4105656"/>
            <a:ext cx="1417320" cy="749808"/>
          </a:xfrm>
          <a:prstGeom prst="roundRect">
            <a:avLst>
              <a:gd name="adj" fmla="val 8537"/>
            </a:avLst>
          </a:prstGeom>
          <a:solidFill>
            <a:srgbClr val="1B2A4A"/>
          </a:solidFill>
          <a:ln/>
        </p:spPr>
      </p:sp>
      <p:sp>
        <p:nvSpPr>
          <p:cNvPr id="17" name="Text 15"/>
          <p:cNvSpPr/>
          <p:nvPr/>
        </p:nvSpPr>
        <p:spPr>
          <a:xfrm>
            <a:off x="576072" y="4105656"/>
            <a:ext cx="1271016" cy="749808"/>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Nation-states</a:t>
            </a:r>
            <a:endParaRPr lang="en-US" sz="1050" dirty="0"/>
          </a:p>
        </p:txBody>
      </p:sp>
      <p:sp>
        <p:nvSpPr>
          <p:cNvPr id="18" name="Shape 16"/>
          <p:cNvSpPr/>
          <p:nvPr/>
        </p:nvSpPr>
        <p:spPr>
          <a:xfrm>
            <a:off x="2057400" y="4105656"/>
            <a:ext cx="5486400" cy="749808"/>
          </a:xfrm>
          <a:prstGeom prst="roundRect">
            <a:avLst>
              <a:gd name="adj" fmla="val 8537"/>
            </a:avLst>
          </a:prstGeom>
          <a:solidFill>
            <a:srgbClr val="F2F5FA"/>
          </a:solidFill>
          <a:ln/>
        </p:spPr>
      </p:sp>
      <p:sp>
        <p:nvSpPr>
          <p:cNvPr id="19" name="Text 17"/>
          <p:cNvSpPr/>
          <p:nvPr/>
        </p:nvSpPr>
        <p:spPr>
          <a:xfrm>
            <a:off x="2240280" y="4105656"/>
            <a:ext cx="5120640" cy="749808"/>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Espionage and disruption; highly resourced.</a:t>
            </a:r>
            <a:endParaRPr lang="en-US" sz="1050" dirty="0"/>
          </a:p>
        </p:txBody>
      </p:sp>
      <p:sp>
        <p:nvSpPr>
          <p:cNvPr id="20" name="Shape 18"/>
          <p:cNvSpPr/>
          <p:nvPr/>
        </p:nvSpPr>
        <p:spPr>
          <a:xfrm>
            <a:off x="502920" y="5001768"/>
            <a:ext cx="1417320" cy="749808"/>
          </a:xfrm>
          <a:prstGeom prst="roundRect">
            <a:avLst>
              <a:gd name="adj" fmla="val 8537"/>
            </a:avLst>
          </a:prstGeom>
          <a:solidFill>
            <a:srgbClr val="1B2A4A"/>
          </a:solidFill>
          <a:ln/>
        </p:spPr>
      </p:sp>
      <p:sp>
        <p:nvSpPr>
          <p:cNvPr id="21" name="Text 19"/>
          <p:cNvSpPr/>
          <p:nvPr/>
        </p:nvSpPr>
        <p:spPr>
          <a:xfrm>
            <a:off x="576072" y="5001768"/>
            <a:ext cx="1271016" cy="749808"/>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Insiders</a:t>
            </a:r>
            <a:endParaRPr lang="en-US" sz="1050" dirty="0"/>
          </a:p>
        </p:txBody>
      </p:sp>
      <p:sp>
        <p:nvSpPr>
          <p:cNvPr id="22" name="Shape 20"/>
          <p:cNvSpPr/>
          <p:nvPr/>
        </p:nvSpPr>
        <p:spPr>
          <a:xfrm>
            <a:off x="2057400" y="5001768"/>
            <a:ext cx="5486400" cy="749808"/>
          </a:xfrm>
          <a:prstGeom prst="roundRect">
            <a:avLst>
              <a:gd name="adj" fmla="val 8537"/>
            </a:avLst>
          </a:prstGeom>
          <a:solidFill>
            <a:srgbClr val="F2F5FA"/>
          </a:solidFill>
          <a:ln/>
        </p:spPr>
      </p:sp>
      <p:sp>
        <p:nvSpPr>
          <p:cNvPr id="23" name="Text 21"/>
          <p:cNvSpPr/>
          <p:nvPr/>
        </p:nvSpPr>
        <p:spPr>
          <a:xfrm>
            <a:off x="2240280" y="5001768"/>
            <a:ext cx="5120640" cy="749808"/>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Employees or partners with access who go rogue.</a:t>
            </a:r>
            <a:endParaRPr lang="en-US" sz="1050" dirty="0"/>
          </a:p>
        </p:txBody>
      </p:sp>
      <p:sp>
        <p:nvSpPr>
          <p:cNvPr id="24" name="Shape 22"/>
          <p:cNvSpPr/>
          <p:nvPr/>
        </p:nvSpPr>
        <p:spPr>
          <a:xfrm>
            <a:off x="7726680" y="1417320"/>
            <a:ext cx="3959352" cy="4617720"/>
          </a:xfrm>
          <a:prstGeom prst="roundRect">
            <a:avLst>
              <a:gd name="adj" fmla="val 2309"/>
            </a:avLst>
          </a:prstGeom>
          <a:solidFill>
            <a:srgbClr val="1B2A4A"/>
          </a:solidFill>
          <a:ln/>
        </p:spPr>
      </p:sp>
      <p:sp>
        <p:nvSpPr>
          <p:cNvPr id="25" name="Text 23"/>
          <p:cNvSpPr/>
          <p:nvPr/>
        </p:nvSpPr>
        <p:spPr>
          <a:xfrm>
            <a:off x="8001000" y="1645920"/>
            <a:ext cx="347472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do they want?</a:t>
            </a:r>
            <a:endParaRPr lang="en-US" sz="1500" dirty="0"/>
          </a:p>
        </p:txBody>
      </p:sp>
      <p:sp>
        <p:nvSpPr>
          <p:cNvPr id="26" name="Text 24"/>
          <p:cNvSpPr/>
          <p:nvPr/>
        </p:nvSpPr>
        <p:spPr>
          <a:xfrm>
            <a:off x="8001000" y="2148840"/>
            <a:ext cx="3429000" cy="3749040"/>
          </a:xfrm>
          <a:prstGeom prst="rect">
            <a:avLst/>
          </a:prstGeom>
          <a:noFill/>
          <a:ln/>
        </p:spPr>
        <p:txBody>
          <a:bodyPr wrap="square" lIns="0" tIns="0" rIns="0" bIns="0" rtlCol="0" anchor="t"/>
          <a:lstStyle/>
          <a:p>
            <a:pPr marL="177800" indent="-177800">
              <a:spcAft>
                <a:spcPts val="1400"/>
              </a:spcAft>
              <a:buSzPct val="100000"/>
              <a:buChar char="•"/>
            </a:pPr>
            <a:r>
              <a:rPr lang="en-US" sz="1250" dirty="0">
                <a:solidFill>
                  <a:srgbClr val="C9D4E6"/>
                </a:solidFill>
                <a:latin typeface="Calibri" pitchFamily="34" charset="0"/>
                <a:ea typeface="Calibri" pitchFamily="34" charset="-122"/>
                <a:cs typeface="Calibri" pitchFamily="34" charset="-120"/>
              </a:rPr>
              <a:t>Steal data — sell it or use it for fraud</a:t>
            </a:r>
            <a:endParaRPr lang="en-US" sz="1250" dirty="0"/>
          </a:p>
          <a:p>
            <a:pPr marL="177800" indent="-177800">
              <a:spcAft>
                <a:spcPts val="1400"/>
              </a:spcAft>
              <a:buSzPct val="100000"/>
              <a:buChar char="•"/>
            </a:pPr>
            <a:r>
              <a:rPr lang="en-US" sz="1250" dirty="0">
                <a:solidFill>
                  <a:srgbClr val="C9D4E6"/>
                </a:solidFill>
                <a:latin typeface="Calibri" pitchFamily="34" charset="0"/>
                <a:ea typeface="Calibri" pitchFamily="34" charset="-122"/>
                <a:cs typeface="Calibri" pitchFamily="34" charset="-120"/>
              </a:rPr>
              <a:t>Extort money — ransomware locks your files</a:t>
            </a:r>
            <a:endParaRPr lang="en-US" sz="1250" dirty="0"/>
          </a:p>
          <a:p>
            <a:pPr marL="177800" indent="-177800">
              <a:spcAft>
                <a:spcPts val="1400"/>
              </a:spcAft>
              <a:buSzPct val="100000"/>
              <a:buChar char="•"/>
            </a:pPr>
            <a:r>
              <a:rPr lang="en-US" sz="1250" dirty="0">
                <a:solidFill>
                  <a:srgbClr val="C9D4E6"/>
                </a:solidFill>
                <a:latin typeface="Calibri" pitchFamily="34" charset="0"/>
                <a:ea typeface="Calibri" pitchFamily="34" charset="-122"/>
                <a:cs typeface="Calibri" pitchFamily="34" charset="-120"/>
              </a:rPr>
              <a:t>Cause disruption — take services offline</a:t>
            </a:r>
            <a:endParaRPr lang="en-US" sz="1250" dirty="0"/>
          </a:p>
          <a:p>
            <a:pPr marL="177800" indent="-177800">
              <a:spcAft>
                <a:spcPts val="1400"/>
              </a:spcAft>
              <a:buSzPct val="100000"/>
              <a:buChar char="•"/>
            </a:pPr>
            <a:r>
              <a:rPr lang="en-US" sz="1250" dirty="0">
                <a:solidFill>
                  <a:srgbClr val="C9D4E6"/>
                </a:solidFill>
                <a:latin typeface="Calibri" pitchFamily="34" charset="0"/>
                <a:ea typeface="Calibri" pitchFamily="34" charset="-122"/>
                <a:cs typeface="Calibri" pitchFamily="34" charset="-120"/>
              </a:rPr>
              <a:t>Spy — gather secrets over a long time</a:t>
            </a:r>
            <a:endParaRPr lang="en-US" sz="1250" dirty="0"/>
          </a:p>
        </p:txBody>
      </p:sp>
      <p:sp>
        <p:nvSpPr>
          <p:cNvPr id="27" name="Text 25"/>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28" name="Text 26"/>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Who Are the Attackers?</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The new ecosystem — collaboration, not lone actors.</a:t>
            </a:r>
            <a:endParaRPr lang="en-US" sz="1200" dirty="0"/>
          </a:p>
        </p:txBody>
      </p:sp>
      <p:sp>
        <p:nvSpPr>
          <p:cNvPr id="4" name="Shape 2"/>
          <p:cNvSpPr/>
          <p:nvPr/>
        </p:nvSpPr>
        <p:spPr>
          <a:xfrm>
            <a:off x="502920" y="1417320"/>
            <a:ext cx="1417320" cy="914400"/>
          </a:xfrm>
          <a:prstGeom prst="roundRect">
            <a:avLst>
              <a:gd name="adj" fmla="val 7000"/>
            </a:avLst>
          </a:prstGeom>
          <a:solidFill>
            <a:srgbClr val="1B2A4A"/>
          </a:solidFill>
          <a:ln/>
        </p:spPr>
      </p:sp>
      <p:sp>
        <p:nvSpPr>
          <p:cNvPr id="5" name="Text 3"/>
          <p:cNvSpPr/>
          <p:nvPr/>
        </p:nvSpPr>
        <p:spPr>
          <a:xfrm>
            <a:off x="576072" y="1417320"/>
            <a:ext cx="1271016" cy="91440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Initial-access</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brokers</a:t>
            </a:r>
            <a:endParaRPr lang="en-US" sz="1050" dirty="0"/>
          </a:p>
        </p:txBody>
      </p:sp>
      <p:sp>
        <p:nvSpPr>
          <p:cNvPr id="6" name="Shape 4"/>
          <p:cNvSpPr/>
          <p:nvPr/>
        </p:nvSpPr>
        <p:spPr>
          <a:xfrm>
            <a:off x="2057400" y="1417320"/>
            <a:ext cx="9628632" cy="914400"/>
          </a:xfrm>
          <a:prstGeom prst="roundRect">
            <a:avLst>
              <a:gd name="adj" fmla="val 7000"/>
            </a:avLst>
          </a:prstGeom>
          <a:solidFill>
            <a:srgbClr val="F2F5FA"/>
          </a:solidFill>
          <a:ln/>
        </p:spPr>
      </p:sp>
      <p:sp>
        <p:nvSpPr>
          <p:cNvPr id="7" name="Text 5"/>
          <p:cNvSpPr/>
          <p:nvPr/>
        </p:nvSpPr>
        <p:spPr>
          <a:xfrm>
            <a:off x="2240280" y="1417320"/>
            <a:ext cx="9262872" cy="91440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Compromise VPNs, cloud accounts, or employees — then sell that access to ransomware groups or espionage operators.</a:t>
            </a:r>
            <a:endParaRPr lang="en-US" sz="1050" dirty="0"/>
          </a:p>
        </p:txBody>
      </p:sp>
      <p:sp>
        <p:nvSpPr>
          <p:cNvPr id="8" name="Shape 6"/>
          <p:cNvSpPr/>
          <p:nvPr/>
        </p:nvSpPr>
        <p:spPr>
          <a:xfrm>
            <a:off x="502920" y="2514600"/>
            <a:ext cx="1417320" cy="914400"/>
          </a:xfrm>
          <a:prstGeom prst="roundRect">
            <a:avLst>
              <a:gd name="adj" fmla="val 7000"/>
            </a:avLst>
          </a:prstGeom>
          <a:solidFill>
            <a:srgbClr val="1B2A4A"/>
          </a:solidFill>
          <a:ln/>
        </p:spPr>
      </p:sp>
      <p:sp>
        <p:nvSpPr>
          <p:cNvPr id="9" name="Text 7"/>
          <p:cNvSpPr/>
          <p:nvPr/>
        </p:nvSpPr>
        <p:spPr>
          <a:xfrm>
            <a:off x="576072" y="2514600"/>
            <a:ext cx="1271016" cy="91440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Ransomware</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affiliates</a:t>
            </a:r>
            <a:endParaRPr lang="en-US" sz="1050" dirty="0"/>
          </a:p>
        </p:txBody>
      </p:sp>
      <p:sp>
        <p:nvSpPr>
          <p:cNvPr id="10" name="Shape 8"/>
          <p:cNvSpPr/>
          <p:nvPr/>
        </p:nvSpPr>
        <p:spPr>
          <a:xfrm>
            <a:off x="2057400" y="2514600"/>
            <a:ext cx="9628632" cy="914400"/>
          </a:xfrm>
          <a:prstGeom prst="roundRect">
            <a:avLst>
              <a:gd name="adj" fmla="val 7000"/>
            </a:avLst>
          </a:prstGeom>
          <a:solidFill>
            <a:srgbClr val="F2F5FA"/>
          </a:solidFill>
          <a:ln/>
        </p:spPr>
      </p:sp>
      <p:sp>
        <p:nvSpPr>
          <p:cNvPr id="11" name="Text 9"/>
          <p:cNvSpPr/>
          <p:nvPr/>
        </p:nvSpPr>
        <p:spPr>
          <a:xfrm>
            <a:off x="2240280" y="2514600"/>
            <a:ext cx="9262872" cy="91440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One group builds the malware, another gains access, another moves laterally and steals data — affiliates share the ransom. This is Ransomware-as-a-Service.</a:t>
            </a:r>
            <a:endParaRPr lang="en-US" sz="1050" dirty="0"/>
          </a:p>
        </p:txBody>
      </p:sp>
      <p:sp>
        <p:nvSpPr>
          <p:cNvPr id="12" name="Shape 10"/>
          <p:cNvSpPr/>
          <p:nvPr/>
        </p:nvSpPr>
        <p:spPr>
          <a:xfrm>
            <a:off x="502920" y="3611880"/>
            <a:ext cx="1417320" cy="914400"/>
          </a:xfrm>
          <a:prstGeom prst="roundRect">
            <a:avLst>
              <a:gd name="adj" fmla="val 7000"/>
            </a:avLst>
          </a:prstGeom>
          <a:solidFill>
            <a:srgbClr val="1B2A4A"/>
          </a:solidFill>
          <a:ln/>
        </p:spPr>
      </p:sp>
      <p:sp>
        <p:nvSpPr>
          <p:cNvPr id="13" name="Text 11"/>
          <p:cNvSpPr/>
          <p:nvPr/>
        </p:nvSpPr>
        <p:spPr>
          <a:xfrm>
            <a:off x="576072" y="3611880"/>
            <a:ext cx="1271016" cy="91440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Cybercrime</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marketplaces</a:t>
            </a:r>
            <a:endParaRPr lang="en-US" sz="1050" dirty="0"/>
          </a:p>
        </p:txBody>
      </p:sp>
      <p:sp>
        <p:nvSpPr>
          <p:cNvPr id="14" name="Shape 12"/>
          <p:cNvSpPr/>
          <p:nvPr/>
        </p:nvSpPr>
        <p:spPr>
          <a:xfrm>
            <a:off x="2057400" y="3611880"/>
            <a:ext cx="9628632" cy="914400"/>
          </a:xfrm>
          <a:prstGeom prst="roundRect">
            <a:avLst>
              <a:gd name="adj" fmla="val 7000"/>
            </a:avLst>
          </a:prstGeom>
          <a:solidFill>
            <a:srgbClr val="F2F5FA"/>
          </a:solidFill>
          <a:ln/>
        </p:spPr>
      </p:sp>
      <p:sp>
        <p:nvSpPr>
          <p:cNvPr id="15" name="Text 13"/>
          <p:cNvSpPr/>
          <p:nvPr/>
        </p:nvSpPr>
        <p:spPr>
          <a:xfrm>
            <a:off x="2240280" y="3611880"/>
            <a:ext cx="9262872" cy="91440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Stolen credentials, session cookies, malware loaders, and phishing kits are bought or rented — lowering the skill barrier for attackers.</a:t>
            </a:r>
            <a:endParaRPr lang="en-US" sz="1050" dirty="0"/>
          </a:p>
        </p:txBody>
      </p:sp>
      <p:sp>
        <p:nvSpPr>
          <p:cNvPr id="16" name="Shape 14"/>
          <p:cNvSpPr/>
          <p:nvPr/>
        </p:nvSpPr>
        <p:spPr>
          <a:xfrm>
            <a:off x="502920" y="4709160"/>
            <a:ext cx="1417320" cy="914400"/>
          </a:xfrm>
          <a:prstGeom prst="roundRect">
            <a:avLst>
              <a:gd name="adj" fmla="val 7000"/>
            </a:avLst>
          </a:prstGeom>
          <a:solidFill>
            <a:srgbClr val="1B2A4A"/>
          </a:solidFill>
          <a:ln/>
        </p:spPr>
      </p:sp>
      <p:sp>
        <p:nvSpPr>
          <p:cNvPr id="17" name="Text 15"/>
          <p:cNvSpPr/>
          <p:nvPr/>
        </p:nvSpPr>
        <p:spPr>
          <a:xfrm>
            <a:off x="576072" y="4709160"/>
            <a:ext cx="1271016" cy="91440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State / criminal</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convergence</a:t>
            </a:r>
            <a:endParaRPr lang="en-US" sz="1050" dirty="0"/>
          </a:p>
        </p:txBody>
      </p:sp>
      <p:sp>
        <p:nvSpPr>
          <p:cNvPr id="18" name="Shape 16"/>
          <p:cNvSpPr/>
          <p:nvPr/>
        </p:nvSpPr>
        <p:spPr>
          <a:xfrm>
            <a:off x="2057400" y="4709160"/>
            <a:ext cx="9628632" cy="914400"/>
          </a:xfrm>
          <a:prstGeom prst="roundRect">
            <a:avLst>
              <a:gd name="adj" fmla="val 7000"/>
            </a:avLst>
          </a:prstGeom>
          <a:solidFill>
            <a:srgbClr val="F2F5FA"/>
          </a:solidFill>
          <a:ln/>
        </p:spPr>
      </p:sp>
      <p:sp>
        <p:nvSpPr>
          <p:cNvPr id="19" name="Text 17"/>
          <p:cNvSpPr/>
          <p:nvPr/>
        </p:nvSpPr>
        <p:spPr>
          <a:xfrm>
            <a:off x="2240280" y="4709160"/>
            <a:ext cx="9262872" cy="91440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Criminal groups use nation-state-like tools and techniques; criminal infrastructure is sometimes tolerated or indirectly supported by state actors.</a:t>
            </a:r>
            <a:endParaRPr lang="en-US" sz="1050" dirty="0"/>
          </a:p>
        </p:txBody>
      </p:sp>
      <p:sp>
        <p:nvSpPr>
          <p:cNvPr id="20" name="Shape 18"/>
          <p:cNvSpPr/>
          <p:nvPr/>
        </p:nvSpPr>
        <p:spPr>
          <a:xfrm>
            <a:off x="502920" y="5349240"/>
            <a:ext cx="11183112" cy="868680"/>
          </a:xfrm>
          <a:prstGeom prst="roundRect">
            <a:avLst>
              <a:gd name="adj" fmla="val 8421"/>
            </a:avLst>
          </a:prstGeom>
          <a:solidFill>
            <a:srgbClr val="1B2A4A"/>
          </a:solidFill>
          <a:ln/>
        </p:spPr>
      </p:sp>
      <p:sp>
        <p:nvSpPr>
          <p:cNvPr id="21" name="Text 19"/>
          <p:cNvSpPr/>
          <p:nvPr/>
        </p:nvSpPr>
        <p:spPr>
          <a:xfrm>
            <a:off x="822960" y="5349240"/>
            <a:ext cx="10543032" cy="868680"/>
          </a:xfrm>
          <a:prstGeom prst="rect">
            <a:avLst/>
          </a:prstGeom>
          <a:noFill/>
          <a:ln/>
        </p:spPr>
        <p:txBody>
          <a:bodyPr wrap="square" lIns="0" tIns="0" rIns="0" bIns="0" rtlCol="0" anchor="ctr"/>
          <a:lstStyle/>
          <a:p>
            <a:pPr algn="l" indent="0" marL="0">
              <a:lnSpc>
                <a:spcPct val="115000"/>
              </a:lnSpc>
              <a:buNone/>
            </a:pPr>
            <a:r>
              <a:rPr lang="en-US" sz="1300" i="1" dirty="0">
                <a:solidFill>
                  <a:srgbClr val="FFFFFF"/>
                </a:solidFill>
                <a:latin typeface="Cambria" pitchFamily="34" charset="0"/>
                <a:ea typeface="Cambria" pitchFamily="34" charset="-122"/>
                <a:cs typeface="Cambria" pitchFamily="34" charset="-120"/>
              </a:rPr>
              <a:t>The modern attacker may not be a single hacker. It may be an ecosystem of specialists working together.</a:t>
            </a:r>
            <a:endParaRPr lang="en-US" sz="1300" dirty="0"/>
          </a:p>
        </p:txBody>
      </p:sp>
      <p:sp>
        <p:nvSpPr>
          <p:cNvPr id="22" name="Text 20"/>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23" name="Text 21"/>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The Hacker Mindset</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Hacking is curiosity + creativity + understanding how systems work.</a:t>
            </a:r>
            <a:endParaRPr lang="en-US" sz="1200" dirty="0"/>
          </a:p>
        </p:txBody>
      </p:sp>
      <p:sp>
        <p:nvSpPr>
          <p:cNvPr id="4" name="Text 2"/>
          <p:cNvSpPr/>
          <p:nvPr/>
        </p:nvSpPr>
        <p:spPr>
          <a:xfrm>
            <a:off x="502920" y="1508760"/>
            <a:ext cx="6035040" cy="3017520"/>
          </a:xfrm>
          <a:prstGeom prst="rect">
            <a:avLst/>
          </a:prstGeom>
          <a:noFill/>
          <a:ln/>
        </p:spPr>
        <p:txBody>
          <a:bodyPr wrap="square" lIns="0" tIns="0" rIns="0" bIns="0" rtlCol="0" anchor="t"/>
          <a:lstStyle/>
          <a:p>
            <a:pPr marL="177800" indent="-177800">
              <a:spcAft>
                <a:spcPts val="1600"/>
              </a:spcAft>
              <a:buSzPct val="100000"/>
              <a:buChar char="•"/>
            </a:pPr>
            <a:r>
              <a:rPr lang="en-US" sz="1350" dirty="0">
                <a:solidFill>
                  <a:srgbClr val="1B2A4A"/>
                </a:solidFill>
                <a:latin typeface="Calibri" pitchFamily="34" charset="0"/>
                <a:ea typeface="Calibri" pitchFamily="34" charset="-122"/>
                <a:cs typeface="Calibri" pitchFamily="34" charset="-120"/>
              </a:rPr>
              <a:t>Ask “what if?” — test what happens when you break the rules</a:t>
            </a:r>
            <a:endParaRPr lang="en-US" sz="1350" dirty="0"/>
          </a:p>
          <a:p>
            <a:pPr marL="177800" indent="-177800">
              <a:spcAft>
                <a:spcPts val="1600"/>
              </a:spcAft>
              <a:buSzPct val="100000"/>
              <a:buChar char="•"/>
            </a:pPr>
            <a:r>
              <a:rPr lang="en-US" sz="1350" dirty="0">
                <a:solidFill>
                  <a:srgbClr val="1B2A4A"/>
                </a:solidFill>
                <a:latin typeface="Calibri" pitchFamily="34" charset="0"/>
                <a:ea typeface="Calibri" pitchFamily="34" charset="-122"/>
                <a:cs typeface="Calibri" pitchFamily="34" charset="-120"/>
              </a:rPr>
              <a:t>Look for patterns — find what the designers overlooked</a:t>
            </a:r>
            <a:endParaRPr lang="en-US" sz="1350" dirty="0"/>
          </a:p>
          <a:p>
            <a:pPr marL="177800" indent="-177800">
              <a:spcAft>
                <a:spcPts val="1600"/>
              </a:spcAft>
              <a:buSzPct val="100000"/>
              <a:buChar char="•"/>
            </a:pPr>
            <a:r>
              <a:rPr lang="en-US" sz="1350" dirty="0">
                <a:solidFill>
                  <a:srgbClr val="1B2A4A"/>
                </a:solidFill>
                <a:latin typeface="Calibri" pitchFamily="34" charset="0"/>
                <a:ea typeface="Calibri" pitchFamily="34" charset="-122"/>
                <a:cs typeface="Calibri" pitchFamily="34" charset="-120"/>
              </a:rPr>
              <a:t>Think in systems — see how pieces connect and where they fail</a:t>
            </a:r>
            <a:endParaRPr lang="en-US" sz="1350" dirty="0"/>
          </a:p>
          <a:p>
            <a:pPr marL="177800" indent="-177800">
              <a:spcAft>
                <a:spcPts val="1600"/>
              </a:spcAft>
              <a:buSzPct val="100000"/>
              <a:buChar char="•"/>
            </a:pPr>
            <a:r>
              <a:rPr lang="en-US" sz="1350" dirty="0">
                <a:solidFill>
                  <a:srgbClr val="1B2A4A"/>
                </a:solidFill>
                <a:latin typeface="Calibri" pitchFamily="34" charset="0"/>
                <a:ea typeface="Calibri" pitchFamily="34" charset="-122"/>
                <a:cs typeface="Calibri" pitchFamily="34" charset="-120"/>
              </a:rPr>
              <a:t>Never stop learning — tools change, the mindset doesn't</a:t>
            </a:r>
            <a:endParaRPr lang="en-US" sz="1350" dirty="0"/>
          </a:p>
        </p:txBody>
      </p:sp>
      <p:sp>
        <p:nvSpPr>
          <p:cNvPr id="5" name="Shape 3"/>
          <p:cNvSpPr/>
          <p:nvPr/>
        </p:nvSpPr>
        <p:spPr>
          <a:xfrm>
            <a:off x="6812280" y="1508760"/>
            <a:ext cx="4873752" cy="1783080"/>
          </a:xfrm>
          <a:prstGeom prst="roundRect">
            <a:avLst>
              <a:gd name="adj" fmla="val 4103"/>
            </a:avLst>
          </a:prstGeom>
          <a:solidFill>
            <a:srgbClr val="E7F7EE"/>
          </a:solidFill>
          <a:ln/>
        </p:spPr>
      </p:sp>
      <p:sp>
        <p:nvSpPr>
          <p:cNvPr id="6" name="Text 4"/>
          <p:cNvSpPr/>
          <p:nvPr/>
        </p:nvSpPr>
        <p:spPr>
          <a:xfrm>
            <a:off x="7040880" y="1627632"/>
            <a:ext cx="4572000" cy="365760"/>
          </a:xfrm>
          <a:prstGeom prst="rect">
            <a:avLst/>
          </a:prstGeom>
          <a:noFill/>
          <a:ln/>
        </p:spPr>
        <p:txBody>
          <a:bodyPr wrap="square" lIns="0" tIns="0" rIns="0" bIns="0" rtlCol="0" anchor="ctr"/>
          <a:lstStyle/>
          <a:p>
            <a:pPr indent="0" marL="0">
              <a:buNone/>
            </a:pPr>
            <a:r>
              <a:rPr lang="en-US" sz="1400" b="1" dirty="0">
                <a:solidFill>
                  <a:srgbClr val="1EA854"/>
                </a:solidFill>
                <a:latin typeface="Calibri" pitchFamily="34" charset="0"/>
                <a:ea typeface="Calibri" pitchFamily="34" charset="-122"/>
                <a:cs typeface="Calibri" pitchFamily="34" charset="-120"/>
              </a:rPr>
              <a:t>Ethical hacking</a:t>
            </a:r>
            <a:endParaRPr lang="en-US" sz="1400" dirty="0"/>
          </a:p>
        </p:txBody>
      </p:sp>
      <p:sp>
        <p:nvSpPr>
          <p:cNvPr id="7" name="Text 5"/>
          <p:cNvSpPr/>
          <p:nvPr/>
        </p:nvSpPr>
        <p:spPr>
          <a:xfrm>
            <a:off x="7040880" y="2029968"/>
            <a:ext cx="4480560" cy="118872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1B2A4A"/>
                </a:solidFill>
                <a:latin typeface="Calibri" pitchFamily="34" charset="0"/>
                <a:ea typeface="Calibri" pitchFamily="34" charset="-122"/>
                <a:cs typeface="Calibri" pitchFamily="34" charset="-120"/>
              </a:rPr>
              <a:t>You have permission</a:t>
            </a:r>
            <a:endParaRPr lang="en-US" sz="1150" dirty="0"/>
          </a:p>
          <a:p>
            <a:pPr marL="177800" indent="-177800">
              <a:spcAft>
                <a:spcPts val="400"/>
              </a:spcAft>
              <a:buSzPct val="100000"/>
              <a:buChar char="•"/>
            </a:pPr>
            <a:r>
              <a:rPr lang="en-US" sz="1150" dirty="0">
                <a:solidFill>
                  <a:srgbClr val="1B2A4A"/>
                </a:solidFill>
                <a:latin typeface="Calibri" pitchFamily="34" charset="0"/>
                <a:ea typeface="Calibri" pitchFamily="34" charset="-122"/>
                <a:cs typeface="Calibri" pitchFamily="34" charset="-120"/>
              </a:rPr>
              <a:t>You own the system</a:t>
            </a:r>
            <a:endParaRPr lang="en-US" sz="1150" dirty="0"/>
          </a:p>
          <a:p>
            <a:pPr marL="177800" indent="-177800">
              <a:spcAft>
                <a:spcPts val="400"/>
              </a:spcAft>
              <a:buSzPct val="100000"/>
              <a:buChar char="•"/>
            </a:pPr>
            <a:r>
              <a:rPr lang="en-US" sz="1150" dirty="0">
                <a:solidFill>
                  <a:srgbClr val="1B2A4A"/>
                </a:solidFill>
                <a:latin typeface="Calibri" pitchFamily="34" charset="0"/>
                <a:ea typeface="Calibri" pitchFamily="34" charset="-122"/>
                <a:cs typeface="Calibri" pitchFamily="34" charset="-120"/>
              </a:rPr>
              <a:t>You report what you find</a:t>
            </a:r>
            <a:endParaRPr lang="en-US" sz="1150" dirty="0"/>
          </a:p>
        </p:txBody>
      </p:sp>
      <p:sp>
        <p:nvSpPr>
          <p:cNvPr id="8" name="Shape 6"/>
          <p:cNvSpPr/>
          <p:nvPr/>
        </p:nvSpPr>
        <p:spPr>
          <a:xfrm>
            <a:off x="6812280" y="3520440"/>
            <a:ext cx="4873752" cy="1417320"/>
          </a:xfrm>
          <a:prstGeom prst="roundRect">
            <a:avLst>
              <a:gd name="adj" fmla="val 5161"/>
            </a:avLst>
          </a:prstGeom>
          <a:solidFill>
            <a:srgbClr val="FCECEA"/>
          </a:solidFill>
          <a:ln/>
        </p:spPr>
      </p:sp>
      <p:sp>
        <p:nvSpPr>
          <p:cNvPr id="9" name="Text 7"/>
          <p:cNvSpPr/>
          <p:nvPr/>
        </p:nvSpPr>
        <p:spPr>
          <a:xfrm>
            <a:off x="7040880" y="3639312"/>
            <a:ext cx="4572000" cy="365760"/>
          </a:xfrm>
          <a:prstGeom prst="rect">
            <a:avLst/>
          </a:prstGeom>
          <a:noFill/>
          <a:ln/>
        </p:spPr>
        <p:txBody>
          <a:bodyPr wrap="square" lIns="0" tIns="0" rIns="0" bIns="0" rtlCol="0" anchor="ctr"/>
          <a:lstStyle/>
          <a:p>
            <a:pPr indent="0" marL="0">
              <a:buNone/>
            </a:pPr>
            <a:r>
              <a:rPr lang="en-US" sz="1400" b="1" dirty="0">
                <a:solidFill>
                  <a:srgbClr val="E74C3C"/>
                </a:solidFill>
                <a:latin typeface="Calibri" pitchFamily="34" charset="0"/>
                <a:ea typeface="Calibri" pitchFamily="34" charset="-122"/>
                <a:cs typeface="Calibri" pitchFamily="34" charset="-120"/>
              </a:rPr>
              <a:t>Illegal hacking</a:t>
            </a:r>
            <a:endParaRPr lang="en-US" sz="1400" dirty="0"/>
          </a:p>
        </p:txBody>
      </p:sp>
      <p:sp>
        <p:nvSpPr>
          <p:cNvPr id="10" name="Text 8"/>
          <p:cNvSpPr/>
          <p:nvPr/>
        </p:nvSpPr>
        <p:spPr>
          <a:xfrm>
            <a:off x="7040880" y="4041648"/>
            <a:ext cx="4480560" cy="82296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1B2A4A"/>
                </a:solidFill>
                <a:latin typeface="Calibri" pitchFamily="34" charset="0"/>
                <a:ea typeface="Calibri" pitchFamily="34" charset="-122"/>
                <a:cs typeface="Calibri" pitchFamily="34" charset="-120"/>
              </a:rPr>
              <a:t>No permission = a crime</a:t>
            </a:r>
            <a:endParaRPr lang="en-US" sz="1150" dirty="0"/>
          </a:p>
          <a:p>
            <a:pPr marL="177800" indent="-177800">
              <a:spcAft>
                <a:spcPts val="400"/>
              </a:spcAft>
              <a:buSzPct val="100000"/>
              <a:buChar char="•"/>
            </a:pPr>
            <a:r>
              <a:rPr lang="en-US" sz="1150" dirty="0">
                <a:solidFill>
                  <a:srgbClr val="1B2A4A"/>
                </a:solidFill>
                <a:latin typeface="Calibri" pitchFamily="34" charset="0"/>
                <a:ea typeface="Calibri" pitchFamily="34" charset="-122"/>
                <a:cs typeface="Calibri" pitchFamily="34" charset="-120"/>
              </a:rPr>
              <a:t>Real people and real harm</a:t>
            </a:r>
            <a:endParaRPr lang="en-US" sz="1150" dirty="0"/>
          </a:p>
        </p:txBody>
      </p:sp>
      <p:sp>
        <p:nvSpPr>
          <p:cNvPr id="11" name="Text 9"/>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12" name="Text 10"/>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The Modern Kill Chain</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Reconnaissance → Delivery → Exploitation → Actions has grown up.</a:t>
            </a:r>
            <a:endParaRPr lang="en-US" sz="1200" dirty="0"/>
          </a:p>
        </p:txBody>
      </p:sp>
      <p:sp>
        <p:nvSpPr>
          <p:cNvPr id="4" name="Shape 2"/>
          <p:cNvSpPr/>
          <p:nvPr/>
        </p:nvSpPr>
        <p:spPr>
          <a:xfrm>
            <a:off x="502920" y="1463040"/>
            <a:ext cx="2644902" cy="1600200"/>
          </a:xfrm>
          <a:prstGeom prst="roundRect">
            <a:avLst>
              <a:gd name="adj" fmla="val 4000"/>
            </a:avLst>
          </a:prstGeom>
          <a:solidFill>
            <a:srgbClr val="F2F5FA"/>
          </a:solidFill>
          <a:ln w="9525">
            <a:solidFill>
              <a:srgbClr val="C9D4E6"/>
            </a:solidFill>
            <a:prstDash val="solid"/>
          </a:ln>
        </p:spPr>
      </p:sp>
      <p:sp>
        <p:nvSpPr>
          <p:cNvPr id="5" name="Shape 3"/>
          <p:cNvSpPr/>
          <p:nvPr/>
        </p:nvSpPr>
        <p:spPr>
          <a:xfrm>
            <a:off x="640080" y="1600200"/>
            <a:ext cx="310896" cy="310896"/>
          </a:xfrm>
          <a:prstGeom prst="ellipse">
            <a:avLst/>
          </a:prstGeom>
          <a:solidFill>
            <a:srgbClr val="2ECC71"/>
          </a:solidFill>
          <a:ln/>
        </p:spPr>
      </p:sp>
      <p:sp>
        <p:nvSpPr>
          <p:cNvPr id="6" name="Text 4"/>
          <p:cNvSpPr/>
          <p:nvPr/>
        </p:nvSpPr>
        <p:spPr>
          <a:xfrm>
            <a:off x="640080" y="1600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640080" y="1965960"/>
            <a:ext cx="2370582" cy="457200"/>
          </a:xfrm>
          <a:prstGeom prst="rect">
            <a:avLst/>
          </a:prstGeom>
          <a:noFill/>
          <a:ln/>
        </p:spPr>
        <p:txBody>
          <a:bodyPr wrap="square" lIns="0" tIns="0" rIns="0" bIns="0" rtlCol="0" anchor="ctr"/>
          <a:lstStyle/>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Reconnaissance</a:t>
            </a:r>
            <a:endParaRPr lang="en-US" sz="1100" dirty="0"/>
          </a:p>
        </p:txBody>
      </p:sp>
      <p:sp>
        <p:nvSpPr>
          <p:cNvPr id="8" name="Text 6"/>
          <p:cNvSpPr/>
          <p:nvPr/>
        </p:nvSpPr>
        <p:spPr>
          <a:xfrm>
            <a:off x="640080" y="2423160"/>
            <a:ext cx="2370582" cy="594360"/>
          </a:xfrm>
          <a:prstGeom prst="rect">
            <a:avLst/>
          </a:prstGeom>
          <a:noFill/>
          <a:ln/>
        </p:spPr>
        <p:txBody>
          <a:bodyPr wrap="square" lIns="0" tIns="0" rIns="0" bIns="0" rtlCol="0" anchor="ctr"/>
          <a:lstStyle/>
          <a:p>
            <a:pPr indent="0" marL="0">
              <a:lnSpc>
                <a:spcPct val="102000"/>
              </a:lnSpc>
              <a:buNone/>
            </a:pPr>
            <a:r>
              <a:rPr lang="en-US" sz="850" dirty="0">
                <a:solidFill>
                  <a:srgbClr val="5A6472"/>
                </a:solidFill>
                <a:latin typeface="Calibri" pitchFamily="34" charset="0"/>
                <a:ea typeface="Calibri" pitchFamily="34" charset="-122"/>
                <a:cs typeface="Calibri" pitchFamily="34" charset="-120"/>
              </a:rPr>
              <a:t>Employees, tech, exposed services, leaked credentials.</a:t>
            </a:r>
            <a:endParaRPr lang="en-US" sz="850" dirty="0"/>
          </a:p>
        </p:txBody>
      </p:sp>
      <p:sp>
        <p:nvSpPr>
          <p:cNvPr id="9" name="Shape 7"/>
          <p:cNvSpPr/>
          <p:nvPr/>
        </p:nvSpPr>
        <p:spPr>
          <a:xfrm>
            <a:off x="3348990" y="1463040"/>
            <a:ext cx="2644902" cy="1600200"/>
          </a:xfrm>
          <a:prstGeom prst="roundRect">
            <a:avLst>
              <a:gd name="adj" fmla="val 4000"/>
            </a:avLst>
          </a:prstGeom>
          <a:solidFill>
            <a:srgbClr val="F2F5FA"/>
          </a:solidFill>
          <a:ln w="9525">
            <a:solidFill>
              <a:srgbClr val="C9D4E6"/>
            </a:solidFill>
            <a:prstDash val="solid"/>
          </a:ln>
        </p:spPr>
      </p:sp>
      <p:sp>
        <p:nvSpPr>
          <p:cNvPr id="10" name="Shape 8"/>
          <p:cNvSpPr/>
          <p:nvPr/>
        </p:nvSpPr>
        <p:spPr>
          <a:xfrm>
            <a:off x="3486150" y="1600200"/>
            <a:ext cx="310896" cy="310896"/>
          </a:xfrm>
          <a:prstGeom prst="ellipse">
            <a:avLst/>
          </a:prstGeom>
          <a:solidFill>
            <a:srgbClr val="2ECC71"/>
          </a:solidFill>
          <a:ln/>
        </p:spPr>
      </p:sp>
      <p:sp>
        <p:nvSpPr>
          <p:cNvPr id="11" name="Text 9"/>
          <p:cNvSpPr/>
          <p:nvPr/>
        </p:nvSpPr>
        <p:spPr>
          <a:xfrm>
            <a:off x="3486150" y="1600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3486150" y="1965960"/>
            <a:ext cx="2370582" cy="457200"/>
          </a:xfrm>
          <a:prstGeom prst="rect">
            <a:avLst/>
          </a:prstGeom>
          <a:noFill/>
          <a:ln/>
        </p:spPr>
        <p:txBody>
          <a:bodyPr wrap="square" lIns="0" tIns="0" rIns="0" bIns="0" rtlCol="0" anchor="ctr"/>
          <a:lstStyle/>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Initial access</a:t>
            </a:r>
            <a:endParaRPr lang="en-US" sz="1100" dirty="0"/>
          </a:p>
        </p:txBody>
      </p:sp>
      <p:sp>
        <p:nvSpPr>
          <p:cNvPr id="13" name="Text 11"/>
          <p:cNvSpPr/>
          <p:nvPr/>
        </p:nvSpPr>
        <p:spPr>
          <a:xfrm>
            <a:off x="3486150" y="2423160"/>
            <a:ext cx="2370582" cy="594360"/>
          </a:xfrm>
          <a:prstGeom prst="rect">
            <a:avLst/>
          </a:prstGeom>
          <a:noFill/>
          <a:ln/>
        </p:spPr>
        <p:txBody>
          <a:bodyPr wrap="square" lIns="0" tIns="0" rIns="0" bIns="0" rtlCol="0" anchor="ctr"/>
          <a:lstStyle/>
          <a:p>
            <a:pPr indent="0" marL="0">
              <a:lnSpc>
                <a:spcPct val="102000"/>
              </a:lnSpc>
              <a:buNone/>
            </a:pPr>
            <a:r>
              <a:rPr lang="en-US" sz="850" dirty="0">
                <a:solidFill>
                  <a:srgbClr val="5A6472"/>
                </a:solidFill>
                <a:latin typeface="Calibri" pitchFamily="34" charset="0"/>
                <a:ea typeface="Calibri" pitchFamily="34" charset="-122"/>
                <a:cs typeface="Calibri" pitchFamily="34" charset="-120"/>
              </a:rPr>
              <a:t>Phishing, stolen creds, exploited flaws, exposed VPNs.</a:t>
            </a:r>
            <a:endParaRPr lang="en-US" sz="850" dirty="0"/>
          </a:p>
        </p:txBody>
      </p:sp>
      <p:sp>
        <p:nvSpPr>
          <p:cNvPr id="14" name="Shape 12"/>
          <p:cNvSpPr/>
          <p:nvPr/>
        </p:nvSpPr>
        <p:spPr>
          <a:xfrm>
            <a:off x="6195060" y="1463040"/>
            <a:ext cx="2644902" cy="1600200"/>
          </a:xfrm>
          <a:prstGeom prst="roundRect">
            <a:avLst>
              <a:gd name="adj" fmla="val 4000"/>
            </a:avLst>
          </a:prstGeom>
          <a:solidFill>
            <a:srgbClr val="F2F5FA"/>
          </a:solidFill>
          <a:ln w="9525">
            <a:solidFill>
              <a:srgbClr val="C9D4E6"/>
            </a:solidFill>
            <a:prstDash val="solid"/>
          </a:ln>
        </p:spPr>
      </p:sp>
      <p:sp>
        <p:nvSpPr>
          <p:cNvPr id="15" name="Shape 13"/>
          <p:cNvSpPr/>
          <p:nvPr/>
        </p:nvSpPr>
        <p:spPr>
          <a:xfrm>
            <a:off x="6332220" y="1600200"/>
            <a:ext cx="310896" cy="310896"/>
          </a:xfrm>
          <a:prstGeom prst="ellipse">
            <a:avLst/>
          </a:prstGeom>
          <a:solidFill>
            <a:srgbClr val="2ECC71"/>
          </a:solidFill>
          <a:ln/>
        </p:spPr>
      </p:sp>
      <p:sp>
        <p:nvSpPr>
          <p:cNvPr id="16" name="Text 14"/>
          <p:cNvSpPr/>
          <p:nvPr/>
        </p:nvSpPr>
        <p:spPr>
          <a:xfrm>
            <a:off x="6332220" y="1600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6332220" y="1965960"/>
            <a:ext cx="2370582" cy="457200"/>
          </a:xfrm>
          <a:prstGeom prst="rect">
            <a:avLst/>
          </a:prstGeom>
          <a:noFill/>
          <a:ln/>
        </p:spPr>
        <p:txBody>
          <a:bodyPr wrap="square" lIns="0" tIns="0" rIns="0" bIns="0" rtlCol="0" anchor="ctr"/>
          <a:lstStyle/>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Execution</a:t>
            </a:r>
            <a:endParaRPr lang="en-US" sz="1100" dirty="0"/>
          </a:p>
        </p:txBody>
      </p:sp>
      <p:sp>
        <p:nvSpPr>
          <p:cNvPr id="18" name="Text 16"/>
          <p:cNvSpPr/>
          <p:nvPr/>
        </p:nvSpPr>
        <p:spPr>
          <a:xfrm>
            <a:off x="6332220" y="2423160"/>
            <a:ext cx="2370582" cy="594360"/>
          </a:xfrm>
          <a:prstGeom prst="rect">
            <a:avLst/>
          </a:prstGeom>
          <a:noFill/>
          <a:ln/>
        </p:spPr>
        <p:txBody>
          <a:bodyPr wrap="square" lIns="0" tIns="0" rIns="0" bIns="0" rtlCol="0" anchor="ctr"/>
          <a:lstStyle/>
          <a:p>
            <a:pPr indent="0" marL="0">
              <a:lnSpc>
                <a:spcPct val="102000"/>
              </a:lnSpc>
              <a:buNone/>
            </a:pPr>
            <a:r>
              <a:rPr lang="en-US" sz="850" dirty="0">
                <a:solidFill>
                  <a:srgbClr val="5A6472"/>
                </a:solidFill>
                <a:latin typeface="Calibri" pitchFamily="34" charset="0"/>
                <a:ea typeface="Calibri" pitchFamily="34" charset="-122"/>
                <a:cs typeface="Calibri" pitchFamily="34" charset="-120"/>
              </a:rPr>
              <a:t>Malicious code or abuse of legitimate admin tools.</a:t>
            </a:r>
            <a:endParaRPr lang="en-US" sz="850" dirty="0"/>
          </a:p>
        </p:txBody>
      </p:sp>
      <p:sp>
        <p:nvSpPr>
          <p:cNvPr id="19" name="Shape 17"/>
          <p:cNvSpPr/>
          <p:nvPr/>
        </p:nvSpPr>
        <p:spPr>
          <a:xfrm>
            <a:off x="9041130" y="1463040"/>
            <a:ext cx="2644902" cy="1600200"/>
          </a:xfrm>
          <a:prstGeom prst="roundRect">
            <a:avLst>
              <a:gd name="adj" fmla="val 4000"/>
            </a:avLst>
          </a:prstGeom>
          <a:solidFill>
            <a:srgbClr val="F2F5FA"/>
          </a:solidFill>
          <a:ln w="9525">
            <a:solidFill>
              <a:srgbClr val="C9D4E6"/>
            </a:solidFill>
            <a:prstDash val="solid"/>
          </a:ln>
        </p:spPr>
      </p:sp>
      <p:sp>
        <p:nvSpPr>
          <p:cNvPr id="20" name="Shape 18"/>
          <p:cNvSpPr/>
          <p:nvPr/>
        </p:nvSpPr>
        <p:spPr>
          <a:xfrm>
            <a:off x="9178290" y="1600200"/>
            <a:ext cx="310896" cy="310896"/>
          </a:xfrm>
          <a:prstGeom prst="ellipse">
            <a:avLst/>
          </a:prstGeom>
          <a:solidFill>
            <a:srgbClr val="2ECC71"/>
          </a:solidFill>
          <a:ln/>
        </p:spPr>
      </p:sp>
      <p:sp>
        <p:nvSpPr>
          <p:cNvPr id="21" name="Text 19"/>
          <p:cNvSpPr/>
          <p:nvPr/>
        </p:nvSpPr>
        <p:spPr>
          <a:xfrm>
            <a:off x="9178290" y="1600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9178290" y="1965960"/>
            <a:ext cx="2370582" cy="457200"/>
          </a:xfrm>
          <a:prstGeom prst="rect">
            <a:avLst/>
          </a:prstGeom>
          <a:noFill/>
          <a:ln/>
        </p:spPr>
        <p:txBody>
          <a:bodyPr wrap="square" lIns="0" tIns="0" rIns="0" bIns="0" rtlCol="0" anchor="ctr"/>
          <a:lstStyle/>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Persistence</a:t>
            </a:r>
            <a:endParaRPr lang="en-US" sz="1100" dirty="0"/>
          </a:p>
        </p:txBody>
      </p:sp>
      <p:sp>
        <p:nvSpPr>
          <p:cNvPr id="23" name="Text 21"/>
          <p:cNvSpPr/>
          <p:nvPr/>
        </p:nvSpPr>
        <p:spPr>
          <a:xfrm>
            <a:off x="9178290" y="2423160"/>
            <a:ext cx="2370582" cy="594360"/>
          </a:xfrm>
          <a:prstGeom prst="rect">
            <a:avLst/>
          </a:prstGeom>
          <a:noFill/>
          <a:ln/>
        </p:spPr>
        <p:txBody>
          <a:bodyPr wrap="square" lIns="0" tIns="0" rIns="0" bIns="0" rtlCol="0" anchor="ctr"/>
          <a:lstStyle/>
          <a:p>
            <a:pPr indent="0" marL="0">
              <a:lnSpc>
                <a:spcPct val="102000"/>
              </a:lnSpc>
              <a:buNone/>
            </a:pPr>
            <a:r>
              <a:rPr lang="en-US" sz="850" dirty="0">
                <a:solidFill>
                  <a:srgbClr val="5A6472"/>
                </a:solidFill>
                <a:latin typeface="Calibri" pitchFamily="34" charset="0"/>
                <a:ea typeface="Calibri" pitchFamily="34" charset="-122"/>
                <a:cs typeface="Calibri" pitchFamily="34" charset="-120"/>
              </a:rPr>
              <a:t>New accounts, OAuth apps, scheduled tasks, SSH keys.</a:t>
            </a:r>
            <a:endParaRPr lang="en-US" sz="850" dirty="0"/>
          </a:p>
        </p:txBody>
      </p:sp>
      <p:sp>
        <p:nvSpPr>
          <p:cNvPr id="24" name="Shape 22"/>
          <p:cNvSpPr/>
          <p:nvPr/>
        </p:nvSpPr>
        <p:spPr>
          <a:xfrm>
            <a:off x="502920" y="3264408"/>
            <a:ext cx="2644902" cy="1600200"/>
          </a:xfrm>
          <a:prstGeom prst="roundRect">
            <a:avLst>
              <a:gd name="adj" fmla="val 4000"/>
            </a:avLst>
          </a:prstGeom>
          <a:solidFill>
            <a:srgbClr val="F2F5FA"/>
          </a:solidFill>
          <a:ln w="9525">
            <a:solidFill>
              <a:srgbClr val="C9D4E6"/>
            </a:solidFill>
            <a:prstDash val="solid"/>
          </a:ln>
        </p:spPr>
      </p:sp>
      <p:sp>
        <p:nvSpPr>
          <p:cNvPr id="25" name="Shape 23"/>
          <p:cNvSpPr/>
          <p:nvPr/>
        </p:nvSpPr>
        <p:spPr>
          <a:xfrm>
            <a:off x="640080" y="3401568"/>
            <a:ext cx="310896" cy="310896"/>
          </a:xfrm>
          <a:prstGeom prst="ellipse">
            <a:avLst/>
          </a:prstGeom>
          <a:solidFill>
            <a:srgbClr val="2ECC71"/>
          </a:solidFill>
          <a:ln/>
        </p:spPr>
      </p:sp>
      <p:sp>
        <p:nvSpPr>
          <p:cNvPr id="26" name="Text 24"/>
          <p:cNvSpPr/>
          <p:nvPr/>
        </p:nvSpPr>
        <p:spPr>
          <a:xfrm>
            <a:off x="640080" y="34015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640080" y="3767328"/>
            <a:ext cx="2370582" cy="457200"/>
          </a:xfrm>
          <a:prstGeom prst="rect">
            <a:avLst/>
          </a:prstGeom>
          <a:noFill/>
          <a:ln/>
        </p:spPr>
        <p:txBody>
          <a:bodyPr wrap="square" lIns="0" tIns="0" rIns="0" bIns="0" rtlCol="0" anchor="ctr"/>
          <a:lstStyle/>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Privilege</a:t>
            </a:r>
            <a:endParaRPr lang="en-US" sz="1100" dirty="0"/>
          </a:p>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escalation</a:t>
            </a:r>
            <a:endParaRPr lang="en-US" sz="1100" dirty="0"/>
          </a:p>
        </p:txBody>
      </p:sp>
      <p:sp>
        <p:nvSpPr>
          <p:cNvPr id="28" name="Text 26"/>
          <p:cNvSpPr/>
          <p:nvPr/>
        </p:nvSpPr>
        <p:spPr>
          <a:xfrm>
            <a:off x="640080" y="4224528"/>
            <a:ext cx="2370582" cy="594360"/>
          </a:xfrm>
          <a:prstGeom prst="rect">
            <a:avLst/>
          </a:prstGeom>
          <a:noFill/>
          <a:ln/>
        </p:spPr>
        <p:txBody>
          <a:bodyPr wrap="square" lIns="0" tIns="0" rIns="0" bIns="0" rtlCol="0" anchor="ctr"/>
          <a:lstStyle/>
          <a:p>
            <a:pPr indent="0" marL="0">
              <a:lnSpc>
                <a:spcPct val="102000"/>
              </a:lnSpc>
              <a:buNone/>
            </a:pPr>
            <a:r>
              <a:rPr lang="en-US" sz="850" dirty="0">
                <a:solidFill>
                  <a:srgbClr val="5A6472"/>
                </a:solidFill>
                <a:latin typeface="Calibri" pitchFamily="34" charset="0"/>
                <a:ea typeface="Calibri" pitchFamily="34" charset="-122"/>
                <a:cs typeface="Calibri" pitchFamily="34" charset="-120"/>
              </a:rPr>
              <a:t>Excess permissions, vulnerable services, stolen admin creds.</a:t>
            </a:r>
            <a:endParaRPr lang="en-US" sz="850" dirty="0"/>
          </a:p>
        </p:txBody>
      </p:sp>
      <p:sp>
        <p:nvSpPr>
          <p:cNvPr id="29" name="Shape 27"/>
          <p:cNvSpPr/>
          <p:nvPr/>
        </p:nvSpPr>
        <p:spPr>
          <a:xfrm>
            <a:off x="3348990" y="3264408"/>
            <a:ext cx="2644902" cy="1600200"/>
          </a:xfrm>
          <a:prstGeom prst="roundRect">
            <a:avLst>
              <a:gd name="adj" fmla="val 4000"/>
            </a:avLst>
          </a:prstGeom>
          <a:solidFill>
            <a:srgbClr val="F2F5FA"/>
          </a:solidFill>
          <a:ln w="9525">
            <a:solidFill>
              <a:srgbClr val="C9D4E6"/>
            </a:solidFill>
            <a:prstDash val="solid"/>
          </a:ln>
        </p:spPr>
      </p:sp>
      <p:sp>
        <p:nvSpPr>
          <p:cNvPr id="30" name="Shape 28"/>
          <p:cNvSpPr/>
          <p:nvPr/>
        </p:nvSpPr>
        <p:spPr>
          <a:xfrm>
            <a:off x="3486150" y="3401568"/>
            <a:ext cx="310896" cy="310896"/>
          </a:xfrm>
          <a:prstGeom prst="ellipse">
            <a:avLst/>
          </a:prstGeom>
          <a:solidFill>
            <a:srgbClr val="2ECC71"/>
          </a:solidFill>
          <a:ln/>
        </p:spPr>
      </p:sp>
      <p:sp>
        <p:nvSpPr>
          <p:cNvPr id="31" name="Text 29"/>
          <p:cNvSpPr/>
          <p:nvPr/>
        </p:nvSpPr>
        <p:spPr>
          <a:xfrm>
            <a:off x="3486150" y="34015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3486150" y="3767328"/>
            <a:ext cx="2370582" cy="457200"/>
          </a:xfrm>
          <a:prstGeom prst="rect">
            <a:avLst/>
          </a:prstGeom>
          <a:noFill/>
          <a:ln/>
        </p:spPr>
        <p:txBody>
          <a:bodyPr wrap="square" lIns="0" tIns="0" rIns="0" bIns="0" rtlCol="0" anchor="ctr"/>
          <a:lstStyle/>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Lateral</a:t>
            </a:r>
            <a:endParaRPr lang="en-US" sz="1100" dirty="0"/>
          </a:p>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movement</a:t>
            </a:r>
            <a:endParaRPr lang="en-US" sz="1100" dirty="0"/>
          </a:p>
        </p:txBody>
      </p:sp>
      <p:sp>
        <p:nvSpPr>
          <p:cNvPr id="33" name="Text 31"/>
          <p:cNvSpPr/>
          <p:nvPr/>
        </p:nvSpPr>
        <p:spPr>
          <a:xfrm>
            <a:off x="3486150" y="4224528"/>
            <a:ext cx="2370582" cy="594360"/>
          </a:xfrm>
          <a:prstGeom prst="rect">
            <a:avLst/>
          </a:prstGeom>
          <a:noFill/>
          <a:ln/>
        </p:spPr>
        <p:txBody>
          <a:bodyPr wrap="square" lIns="0" tIns="0" rIns="0" bIns="0" rtlCol="0" anchor="ctr"/>
          <a:lstStyle/>
          <a:p>
            <a:pPr indent="0" marL="0">
              <a:lnSpc>
                <a:spcPct val="102000"/>
              </a:lnSpc>
              <a:buNone/>
            </a:pPr>
            <a:r>
              <a:rPr lang="en-US" sz="850" dirty="0">
                <a:solidFill>
                  <a:srgbClr val="5A6472"/>
                </a:solidFill>
                <a:latin typeface="Calibri" pitchFamily="34" charset="0"/>
                <a:ea typeface="Calibri" pitchFamily="34" charset="-122"/>
                <a:cs typeface="Calibri" pitchFamily="34" charset="-120"/>
              </a:rPr>
              <a:t>Active Directory, cloud tenants, SaaS, shared creds.</a:t>
            </a:r>
            <a:endParaRPr lang="en-US" sz="850" dirty="0"/>
          </a:p>
        </p:txBody>
      </p:sp>
      <p:sp>
        <p:nvSpPr>
          <p:cNvPr id="34" name="Shape 32"/>
          <p:cNvSpPr/>
          <p:nvPr/>
        </p:nvSpPr>
        <p:spPr>
          <a:xfrm>
            <a:off x="6195060" y="3264408"/>
            <a:ext cx="2644902" cy="1600200"/>
          </a:xfrm>
          <a:prstGeom prst="roundRect">
            <a:avLst>
              <a:gd name="adj" fmla="val 4000"/>
            </a:avLst>
          </a:prstGeom>
          <a:solidFill>
            <a:srgbClr val="F2F5FA"/>
          </a:solidFill>
          <a:ln w="9525">
            <a:solidFill>
              <a:srgbClr val="C9D4E6"/>
            </a:solidFill>
            <a:prstDash val="solid"/>
          </a:ln>
        </p:spPr>
      </p:sp>
      <p:sp>
        <p:nvSpPr>
          <p:cNvPr id="35" name="Shape 33"/>
          <p:cNvSpPr/>
          <p:nvPr/>
        </p:nvSpPr>
        <p:spPr>
          <a:xfrm>
            <a:off x="6332220" y="3401568"/>
            <a:ext cx="310896" cy="310896"/>
          </a:xfrm>
          <a:prstGeom prst="ellipse">
            <a:avLst/>
          </a:prstGeom>
          <a:solidFill>
            <a:srgbClr val="2ECC71"/>
          </a:solidFill>
          <a:ln/>
        </p:spPr>
      </p:sp>
      <p:sp>
        <p:nvSpPr>
          <p:cNvPr id="36" name="Text 34"/>
          <p:cNvSpPr/>
          <p:nvPr/>
        </p:nvSpPr>
        <p:spPr>
          <a:xfrm>
            <a:off x="6332220" y="34015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6332220" y="3767328"/>
            <a:ext cx="2370582" cy="457200"/>
          </a:xfrm>
          <a:prstGeom prst="rect">
            <a:avLst/>
          </a:prstGeom>
          <a:noFill/>
          <a:ln/>
        </p:spPr>
        <p:txBody>
          <a:bodyPr wrap="square" lIns="0" tIns="0" rIns="0" bIns="0" rtlCol="0" anchor="ctr"/>
          <a:lstStyle/>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Discovery &amp;</a:t>
            </a:r>
            <a:endParaRPr lang="en-US" sz="1100" dirty="0"/>
          </a:p>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collection</a:t>
            </a:r>
            <a:endParaRPr lang="en-US" sz="1100" dirty="0"/>
          </a:p>
        </p:txBody>
      </p:sp>
      <p:sp>
        <p:nvSpPr>
          <p:cNvPr id="38" name="Text 36"/>
          <p:cNvSpPr/>
          <p:nvPr/>
        </p:nvSpPr>
        <p:spPr>
          <a:xfrm>
            <a:off x="6332220" y="4224528"/>
            <a:ext cx="2370582" cy="594360"/>
          </a:xfrm>
          <a:prstGeom prst="rect">
            <a:avLst/>
          </a:prstGeom>
          <a:noFill/>
          <a:ln/>
        </p:spPr>
        <p:txBody>
          <a:bodyPr wrap="square" lIns="0" tIns="0" rIns="0" bIns="0" rtlCol="0" anchor="ctr"/>
          <a:lstStyle/>
          <a:p>
            <a:pPr indent="0" marL="0">
              <a:lnSpc>
                <a:spcPct val="102000"/>
              </a:lnSpc>
              <a:buNone/>
            </a:pPr>
            <a:r>
              <a:rPr lang="en-US" sz="850" dirty="0">
                <a:solidFill>
                  <a:srgbClr val="5A6472"/>
                </a:solidFill>
                <a:latin typeface="Calibri" pitchFamily="34" charset="0"/>
                <a:ea typeface="Calibri" pitchFamily="34" charset="-122"/>
                <a:cs typeface="Calibri" pitchFamily="34" charset="-120"/>
              </a:rPr>
              <a:t>File shares, email, source code, backups, secrets.</a:t>
            </a:r>
            <a:endParaRPr lang="en-US" sz="850" dirty="0"/>
          </a:p>
        </p:txBody>
      </p:sp>
      <p:sp>
        <p:nvSpPr>
          <p:cNvPr id="39" name="Shape 37"/>
          <p:cNvSpPr/>
          <p:nvPr/>
        </p:nvSpPr>
        <p:spPr>
          <a:xfrm>
            <a:off x="9041130" y="3264408"/>
            <a:ext cx="2644902" cy="1600200"/>
          </a:xfrm>
          <a:prstGeom prst="roundRect">
            <a:avLst>
              <a:gd name="adj" fmla="val 4000"/>
            </a:avLst>
          </a:prstGeom>
          <a:solidFill>
            <a:srgbClr val="F2F5FA"/>
          </a:solidFill>
          <a:ln w="9525">
            <a:solidFill>
              <a:srgbClr val="C9D4E6"/>
            </a:solidFill>
            <a:prstDash val="solid"/>
          </a:ln>
        </p:spPr>
      </p:sp>
      <p:sp>
        <p:nvSpPr>
          <p:cNvPr id="40" name="Shape 38"/>
          <p:cNvSpPr/>
          <p:nvPr/>
        </p:nvSpPr>
        <p:spPr>
          <a:xfrm>
            <a:off x="9178290" y="3401568"/>
            <a:ext cx="310896" cy="310896"/>
          </a:xfrm>
          <a:prstGeom prst="ellipse">
            <a:avLst/>
          </a:prstGeom>
          <a:solidFill>
            <a:srgbClr val="2ECC71"/>
          </a:solidFill>
          <a:ln/>
        </p:spPr>
      </p:sp>
      <p:sp>
        <p:nvSpPr>
          <p:cNvPr id="41" name="Text 39"/>
          <p:cNvSpPr/>
          <p:nvPr/>
        </p:nvSpPr>
        <p:spPr>
          <a:xfrm>
            <a:off x="9178290" y="34015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p:nvPr/>
        </p:nvSpPr>
        <p:spPr>
          <a:xfrm>
            <a:off x="9178290" y="3767328"/>
            <a:ext cx="2370582" cy="457200"/>
          </a:xfrm>
          <a:prstGeom prst="rect">
            <a:avLst/>
          </a:prstGeom>
          <a:noFill/>
          <a:ln/>
        </p:spPr>
        <p:txBody>
          <a:bodyPr wrap="square" lIns="0" tIns="0" rIns="0" bIns="0" rtlCol="0" anchor="ctr"/>
          <a:lstStyle/>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Exfiltration &amp;</a:t>
            </a:r>
            <a:endParaRPr lang="en-US" sz="1100" dirty="0"/>
          </a:p>
          <a:p>
            <a:pPr indent="0" marL="0">
              <a:lnSpc>
                <a:spcPct val="95000"/>
              </a:lnSpc>
              <a:buNone/>
            </a:pPr>
            <a:r>
              <a:rPr lang="en-US" sz="1100" b="1" dirty="0">
                <a:solidFill>
                  <a:srgbClr val="1B2A4A"/>
                </a:solidFill>
                <a:latin typeface="Calibri" pitchFamily="34" charset="0"/>
                <a:ea typeface="Calibri" pitchFamily="34" charset="-122"/>
                <a:cs typeface="Calibri" pitchFamily="34" charset="-120"/>
              </a:rPr>
              <a:t>impact</a:t>
            </a:r>
            <a:endParaRPr lang="en-US" sz="1100" dirty="0"/>
          </a:p>
        </p:txBody>
      </p:sp>
      <p:sp>
        <p:nvSpPr>
          <p:cNvPr id="43" name="Text 41"/>
          <p:cNvSpPr/>
          <p:nvPr/>
        </p:nvSpPr>
        <p:spPr>
          <a:xfrm>
            <a:off x="9178290" y="4224528"/>
            <a:ext cx="2370582" cy="594360"/>
          </a:xfrm>
          <a:prstGeom prst="rect">
            <a:avLst/>
          </a:prstGeom>
          <a:noFill/>
          <a:ln/>
        </p:spPr>
        <p:txBody>
          <a:bodyPr wrap="square" lIns="0" tIns="0" rIns="0" bIns="0" rtlCol="0" anchor="ctr"/>
          <a:lstStyle/>
          <a:p>
            <a:pPr indent="0" marL="0">
              <a:lnSpc>
                <a:spcPct val="102000"/>
              </a:lnSpc>
              <a:buNone/>
            </a:pPr>
            <a:r>
              <a:rPr lang="en-US" sz="850" dirty="0">
                <a:solidFill>
                  <a:srgbClr val="5A6472"/>
                </a:solidFill>
                <a:latin typeface="Calibri" pitchFamily="34" charset="0"/>
                <a:ea typeface="Calibri" pitchFamily="34" charset="-122"/>
                <a:cs typeface="Calibri" pitchFamily="34" charset="-120"/>
              </a:rPr>
              <a:t>Data theft, ransomware, fraud, sabotage, disclosure.</a:t>
            </a:r>
            <a:endParaRPr lang="en-US" sz="850" dirty="0"/>
          </a:p>
        </p:txBody>
      </p:sp>
      <p:sp>
        <p:nvSpPr>
          <p:cNvPr id="44" name="Shape 42"/>
          <p:cNvSpPr/>
          <p:nvPr/>
        </p:nvSpPr>
        <p:spPr>
          <a:xfrm>
            <a:off x="502920" y="5166360"/>
            <a:ext cx="11183112" cy="1051560"/>
          </a:xfrm>
          <a:prstGeom prst="roundRect">
            <a:avLst>
              <a:gd name="adj" fmla="val 6957"/>
            </a:avLst>
          </a:prstGeom>
          <a:solidFill>
            <a:srgbClr val="1B2A4A"/>
          </a:solidFill>
          <a:ln/>
        </p:spPr>
      </p:sp>
      <p:sp>
        <p:nvSpPr>
          <p:cNvPr id="45" name="Text 43"/>
          <p:cNvSpPr/>
          <p:nvPr/>
        </p:nvSpPr>
        <p:spPr>
          <a:xfrm>
            <a:off x="822960" y="5166360"/>
            <a:ext cx="10543032" cy="1051560"/>
          </a:xfrm>
          <a:prstGeom prst="rect">
            <a:avLst/>
          </a:prstGeom>
          <a:noFill/>
          <a:ln/>
        </p:spPr>
        <p:txBody>
          <a:bodyPr wrap="square" lIns="0" tIns="0" rIns="0" bIns="0" rtlCol="0" anchor="ctr"/>
          <a:lstStyle/>
          <a:p>
            <a:pPr algn="l" indent="0" marL="0">
              <a:lnSpc>
                <a:spcPct val="115000"/>
              </a:lnSpc>
              <a:buNone/>
            </a:pPr>
            <a:r>
              <a:rPr lang="en-US" sz="1300" i="1" dirty="0">
                <a:solidFill>
                  <a:srgbClr val="FFFFFF"/>
                </a:solidFill>
                <a:latin typeface="Cambria" pitchFamily="34" charset="0"/>
                <a:ea typeface="Cambria" pitchFamily="34" charset="-122"/>
                <a:cs typeface="Cambria" pitchFamily="34" charset="-120"/>
              </a:rPr>
              <a:t>Many modern attacks do not need malware. A stolen session cookie, OAuth token, or cloud credential may be enough.</a:t>
            </a:r>
            <a:endParaRPr lang="en-US" sz="1300" dirty="0"/>
          </a:p>
        </p:txBody>
      </p:sp>
      <p:sp>
        <p:nvSpPr>
          <p:cNvPr id="46" name="Text 44"/>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47" name="Text 45"/>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Phishing Has Evolved</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From “fake emails” to a broad category of social engineering.</a:t>
            </a:r>
            <a:endParaRPr lang="en-US" sz="1200" dirty="0"/>
          </a:p>
        </p:txBody>
      </p:sp>
      <p:sp>
        <p:nvSpPr>
          <p:cNvPr id="4" name="Shape 2"/>
          <p:cNvSpPr/>
          <p:nvPr/>
        </p:nvSpPr>
        <p:spPr>
          <a:xfrm>
            <a:off x="502920" y="1417320"/>
            <a:ext cx="5486400" cy="457200"/>
          </a:xfrm>
          <a:prstGeom prst="roundRect">
            <a:avLst>
              <a:gd name="adj" fmla="val 16000"/>
            </a:avLst>
          </a:prstGeom>
          <a:solidFill>
            <a:srgbClr val="F2F5FA"/>
          </a:solidFill>
          <a:ln/>
        </p:spPr>
      </p:sp>
      <p:sp>
        <p:nvSpPr>
          <p:cNvPr id="5" name="Text 3"/>
          <p:cNvSpPr/>
          <p:nvPr/>
        </p:nvSpPr>
        <p:spPr>
          <a:xfrm>
            <a:off x="685800" y="1417320"/>
            <a:ext cx="5120640" cy="45720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New forms</a:t>
            </a:r>
            <a:endParaRPr lang="en-US" sz="1400" dirty="0"/>
          </a:p>
        </p:txBody>
      </p:sp>
      <p:sp>
        <p:nvSpPr>
          <p:cNvPr id="6" name="Text 4"/>
          <p:cNvSpPr/>
          <p:nvPr/>
        </p:nvSpPr>
        <p:spPr>
          <a:xfrm>
            <a:off x="685800" y="2011680"/>
            <a:ext cx="5212080" cy="2651760"/>
          </a:xfrm>
          <a:prstGeom prst="rect">
            <a:avLst/>
          </a:prstGeom>
          <a:noFill/>
          <a:ln/>
        </p:spPr>
        <p:txBody>
          <a:bodyPr wrap="square" lIns="0" tIns="0" rIns="0" bIns="0" rtlCol="0" anchor="t"/>
          <a:lstStyle/>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Spear phishing — personalized to one target</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Business email compromise — impersonates execs or suppliers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Vishing &amp; smishing — fraudulent calls and SMS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QR phishing — malicious codes redirect to fake logins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Adversary-in-the-middle — relays real logins to steal sessions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Deepfake impersonation &amp; ClickFix-style attacks</a:t>
            </a:r>
            <a:endParaRPr lang="en-US" sz="1080" dirty="0"/>
          </a:p>
        </p:txBody>
      </p:sp>
      <p:sp>
        <p:nvSpPr>
          <p:cNvPr id="7" name="Shape 5"/>
          <p:cNvSpPr/>
          <p:nvPr/>
        </p:nvSpPr>
        <p:spPr>
          <a:xfrm>
            <a:off x="6199632" y="1417320"/>
            <a:ext cx="5486400" cy="457200"/>
          </a:xfrm>
          <a:prstGeom prst="roundRect">
            <a:avLst>
              <a:gd name="adj" fmla="val 16000"/>
            </a:avLst>
          </a:prstGeom>
          <a:solidFill>
            <a:srgbClr val="E7F7EE"/>
          </a:solidFill>
          <a:ln/>
        </p:spPr>
      </p:sp>
      <p:sp>
        <p:nvSpPr>
          <p:cNvPr id="8" name="Text 6"/>
          <p:cNvSpPr/>
          <p:nvPr/>
        </p:nvSpPr>
        <p:spPr>
          <a:xfrm>
            <a:off x="6382512" y="1417320"/>
            <a:ext cx="5120640" cy="457200"/>
          </a:xfrm>
          <a:prstGeom prst="rect">
            <a:avLst/>
          </a:prstGeom>
          <a:noFill/>
          <a:ln/>
        </p:spPr>
        <p:txBody>
          <a:bodyPr wrap="square" lIns="0" tIns="0" rIns="0" bIns="0" rtlCol="0" anchor="ctr"/>
          <a:lstStyle/>
          <a:p>
            <a:pPr indent="0" marL="0">
              <a:buNone/>
            </a:pPr>
            <a:r>
              <a:rPr lang="en-US" sz="1400" b="1" dirty="0">
                <a:solidFill>
                  <a:srgbClr val="1EA854"/>
                </a:solidFill>
                <a:latin typeface="Calibri" pitchFamily="34" charset="0"/>
                <a:ea typeface="Calibri" pitchFamily="34" charset="-122"/>
                <a:cs typeface="Calibri" pitchFamily="34" charset="-120"/>
              </a:rPr>
              <a:t>Defend</a:t>
            </a:r>
            <a:endParaRPr lang="en-US" sz="1400" dirty="0"/>
          </a:p>
        </p:txBody>
      </p:sp>
      <p:sp>
        <p:nvSpPr>
          <p:cNvPr id="9" name="Text 7"/>
          <p:cNvSpPr/>
          <p:nvPr/>
        </p:nvSpPr>
        <p:spPr>
          <a:xfrm>
            <a:off x="6382512" y="2011680"/>
            <a:ext cx="5212080" cy="2651760"/>
          </a:xfrm>
          <a:prstGeom prst="rect">
            <a:avLst/>
          </a:prstGeom>
          <a:noFill/>
          <a:ln/>
        </p:spPr>
        <p:txBody>
          <a:bodyPr wrap="square" lIns="0" tIns="0" rIns="0" bIns="0" rtlCol="0" anchor="t"/>
          <a:lstStyle/>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Use phishing-resistant MFA — passkeys or FIDO2 keys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Never trust display name, caller ID, or email alone</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Verify payment/reset requests on a separate channel</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Never paste commands from a site or pop-up</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Treat unexpected QR codes and logins as suspicious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Monitor for abnormal OAuth consent and sessions</a:t>
            </a:r>
            <a:endParaRPr lang="en-US" sz="1080" dirty="0"/>
          </a:p>
        </p:txBody>
      </p:sp>
      <p:sp>
        <p:nvSpPr>
          <p:cNvPr id="10" name="Shape 8"/>
          <p:cNvSpPr/>
          <p:nvPr/>
        </p:nvSpPr>
        <p:spPr>
          <a:xfrm>
            <a:off x="502920" y="4892040"/>
            <a:ext cx="11183112" cy="1280160"/>
          </a:xfrm>
          <a:prstGeom prst="roundRect">
            <a:avLst>
              <a:gd name="adj" fmla="val 5714"/>
            </a:avLst>
          </a:prstGeom>
          <a:solidFill>
            <a:srgbClr val="1B2A4A"/>
          </a:solidFill>
          <a:ln/>
        </p:spPr>
      </p:sp>
      <p:sp>
        <p:nvSpPr>
          <p:cNvPr id="11" name="Text 9"/>
          <p:cNvSpPr/>
          <p:nvPr/>
        </p:nvSpPr>
        <p:spPr>
          <a:xfrm>
            <a:off x="777240" y="4956048"/>
            <a:ext cx="7863840" cy="1152144"/>
          </a:xfrm>
          <a:prstGeom prst="rect">
            <a:avLst/>
          </a:prstGeom>
          <a:noFill/>
          <a:ln/>
        </p:spPr>
        <p:txBody>
          <a:bodyPr wrap="square" lIns="0" tIns="0" rIns="0" bIns="0" rtlCol="0" anchor="ctr"/>
          <a:lstStyle/>
          <a:p>
            <a:pPr indent="0" marL="0">
              <a:lnSpc>
                <a:spcPct val="110000"/>
              </a:lnSpc>
              <a:buNone/>
            </a:pPr>
            <a:r>
              <a:rPr lang="en-US" sz="1200" i="1" dirty="0">
                <a:solidFill>
                  <a:srgbClr val="FFFFFF"/>
                </a:solidFill>
                <a:latin typeface="Cambria" pitchFamily="34" charset="0"/>
                <a:ea typeface="Cambria" pitchFamily="34" charset="-122"/>
                <a:cs typeface="Cambria" pitchFamily="34" charset="-120"/>
              </a:rPr>
              <a:t>“The question is no longer only ‘Can I recognize a badly written phishing email?’ It is ‘Can I verify the identity and intent of a message through an independent channel?’”</a:t>
            </a:r>
            <a:endParaRPr lang="en-US" sz="1200" dirty="0"/>
          </a:p>
        </p:txBody>
      </p:sp>
      <p:sp>
        <p:nvSpPr>
          <p:cNvPr id="12" name="Text 10"/>
          <p:cNvSpPr/>
          <p:nvPr/>
        </p:nvSpPr>
        <p:spPr>
          <a:xfrm>
            <a:off x="8732520" y="4956048"/>
            <a:ext cx="2788920" cy="1152144"/>
          </a:xfrm>
          <a:prstGeom prst="rect">
            <a:avLst/>
          </a:prstGeom>
          <a:noFill/>
          <a:ln/>
        </p:spPr>
        <p:txBody>
          <a:bodyPr wrap="square" lIns="0" tIns="0" rIns="0" bIns="0" rtlCol="0" anchor="ctr"/>
          <a:lstStyle/>
          <a:p>
            <a:pPr indent="0" marL="0">
              <a:lnSpc>
                <a:spcPct val="110000"/>
              </a:lnSpc>
              <a:buNone/>
            </a:pPr>
            <a:r>
              <a:rPr lang="en-US" sz="950" dirty="0">
                <a:solidFill>
                  <a:srgbClr val="C9D4E6"/>
                </a:solidFill>
                <a:latin typeface="Calibri" pitchFamily="34" charset="0"/>
                <a:ea typeface="Calibri" pitchFamily="34" charset="-122"/>
                <a:cs typeface="Calibri" pitchFamily="34" charset="-120"/>
              </a:rPr>
              <a:t>Phishing accounts for ~60% of observed initial intrusions in recent European reporting; exploited vulnerabilities account for 21.3%.</a:t>
            </a:r>
            <a:endParaRPr lang="en-US" sz="950" dirty="0"/>
          </a:p>
        </p:txBody>
      </p:sp>
      <p:sp>
        <p:nvSpPr>
          <p:cNvPr id="13" name="Text 11"/>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14" name="Text 12"/>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Malware Has Evolved</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Beyond viruses, worms, and trojans.</a:t>
            </a:r>
            <a:endParaRPr lang="en-US" sz="1200" dirty="0"/>
          </a:p>
        </p:txBody>
      </p:sp>
      <p:sp>
        <p:nvSpPr>
          <p:cNvPr id="4" name="Shape 2"/>
          <p:cNvSpPr/>
          <p:nvPr/>
        </p:nvSpPr>
        <p:spPr>
          <a:xfrm>
            <a:off x="502920" y="1417320"/>
            <a:ext cx="1417320" cy="868680"/>
          </a:xfrm>
          <a:prstGeom prst="roundRect">
            <a:avLst>
              <a:gd name="adj" fmla="val 7368"/>
            </a:avLst>
          </a:prstGeom>
          <a:solidFill>
            <a:srgbClr val="1B2A4A"/>
          </a:solidFill>
          <a:ln/>
        </p:spPr>
      </p:sp>
      <p:sp>
        <p:nvSpPr>
          <p:cNvPr id="5" name="Text 3"/>
          <p:cNvSpPr/>
          <p:nvPr/>
        </p:nvSpPr>
        <p:spPr>
          <a:xfrm>
            <a:off x="576072" y="1417320"/>
            <a:ext cx="1271016"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Infostealers</a:t>
            </a:r>
            <a:endParaRPr lang="en-US" sz="1050" dirty="0"/>
          </a:p>
        </p:txBody>
      </p:sp>
      <p:sp>
        <p:nvSpPr>
          <p:cNvPr id="6" name="Shape 4"/>
          <p:cNvSpPr/>
          <p:nvPr/>
        </p:nvSpPr>
        <p:spPr>
          <a:xfrm>
            <a:off x="2057400" y="1417320"/>
            <a:ext cx="9628632" cy="868680"/>
          </a:xfrm>
          <a:prstGeom prst="roundRect">
            <a:avLst>
              <a:gd name="adj" fmla="val 7368"/>
            </a:avLst>
          </a:prstGeom>
          <a:solidFill>
            <a:srgbClr val="F2F5FA"/>
          </a:solidFill>
          <a:ln/>
        </p:spPr>
      </p:sp>
      <p:sp>
        <p:nvSpPr>
          <p:cNvPr id="7" name="Text 5"/>
          <p:cNvSpPr/>
          <p:nvPr/>
        </p:nvSpPr>
        <p:spPr>
          <a:xfrm>
            <a:off x="2240280" y="1417320"/>
            <a:ext cx="9262872" cy="86868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Target browser passwords, session cookies, crypto wallets, API keys, and cloud tokens — access to be used later, not immediate damage.</a:t>
            </a:r>
            <a:endParaRPr lang="en-US" sz="1050" dirty="0"/>
          </a:p>
        </p:txBody>
      </p:sp>
      <p:sp>
        <p:nvSpPr>
          <p:cNvPr id="8" name="Shape 6"/>
          <p:cNvSpPr/>
          <p:nvPr/>
        </p:nvSpPr>
        <p:spPr>
          <a:xfrm>
            <a:off x="502920" y="2423160"/>
            <a:ext cx="1417320" cy="868680"/>
          </a:xfrm>
          <a:prstGeom prst="roundRect">
            <a:avLst>
              <a:gd name="adj" fmla="val 7368"/>
            </a:avLst>
          </a:prstGeom>
          <a:solidFill>
            <a:srgbClr val="1B2A4A"/>
          </a:solidFill>
          <a:ln/>
        </p:spPr>
      </p:sp>
      <p:sp>
        <p:nvSpPr>
          <p:cNvPr id="9" name="Text 7"/>
          <p:cNvSpPr/>
          <p:nvPr/>
        </p:nvSpPr>
        <p:spPr>
          <a:xfrm>
            <a:off x="576072" y="2423160"/>
            <a:ext cx="1271016"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Loaders &amp; access</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malware</a:t>
            </a:r>
            <a:endParaRPr lang="en-US" sz="1050" dirty="0"/>
          </a:p>
        </p:txBody>
      </p:sp>
      <p:sp>
        <p:nvSpPr>
          <p:cNvPr id="10" name="Shape 8"/>
          <p:cNvSpPr/>
          <p:nvPr/>
        </p:nvSpPr>
        <p:spPr>
          <a:xfrm>
            <a:off x="2057400" y="2423160"/>
            <a:ext cx="9628632" cy="868680"/>
          </a:xfrm>
          <a:prstGeom prst="roundRect">
            <a:avLst>
              <a:gd name="adj" fmla="val 7368"/>
            </a:avLst>
          </a:prstGeom>
          <a:solidFill>
            <a:srgbClr val="F2F5FA"/>
          </a:solidFill>
          <a:ln/>
        </p:spPr>
      </p:sp>
      <p:sp>
        <p:nvSpPr>
          <p:cNvPr id="11" name="Text 9"/>
          <p:cNvSpPr/>
          <p:nvPr/>
        </p:nvSpPr>
        <p:spPr>
          <a:xfrm>
            <a:off x="2240280" y="2423160"/>
            <a:ext cx="9262872" cy="86868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A small, often harmless-looking program establishes a foothold, then downloads the real payload — harder to detect.</a:t>
            </a:r>
            <a:endParaRPr lang="en-US" sz="1050" dirty="0"/>
          </a:p>
        </p:txBody>
      </p:sp>
      <p:sp>
        <p:nvSpPr>
          <p:cNvPr id="12" name="Shape 10"/>
          <p:cNvSpPr/>
          <p:nvPr/>
        </p:nvSpPr>
        <p:spPr>
          <a:xfrm>
            <a:off x="502920" y="3429000"/>
            <a:ext cx="1417320" cy="868680"/>
          </a:xfrm>
          <a:prstGeom prst="roundRect">
            <a:avLst>
              <a:gd name="adj" fmla="val 7368"/>
            </a:avLst>
          </a:prstGeom>
          <a:solidFill>
            <a:srgbClr val="1B2A4A"/>
          </a:solidFill>
          <a:ln/>
        </p:spPr>
      </p:sp>
      <p:sp>
        <p:nvSpPr>
          <p:cNvPr id="13" name="Text 11"/>
          <p:cNvSpPr/>
          <p:nvPr/>
        </p:nvSpPr>
        <p:spPr>
          <a:xfrm>
            <a:off x="576072" y="3429000"/>
            <a:ext cx="1271016"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Living-off-the-</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land</a:t>
            </a:r>
            <a:endParaRPr lang="en-US" sz="1050" dirty="0"/>
          </a:p>
        </p:txBody>
      </p:sp>
      <p:sp>
        <p:nvSpPr>
          <p:cNvPr id="14" name="Shape 12"/>
          <p:cNvSpPr/>
          <p:nvPr/>
        </p:nvSpPr>
        <p:spPr>
          <a:xfrm>
            <a:off x="2057400" y="3429000"/>
            <a:ext cx="9628632" cy="868680"/>
          </a:xfrm>
          <a:prstGeom prst="roundRect">
            <a:avLst>
              <a:gd name="adj" fmla="val 7368"/>
            </a:avLst>
          </a:prstGeom>
          <a:solidFill>
            <a:srgbClr val="F2F5FA"/>
          </a:solidFill>
          <a:ln/>
        </p:spPr>
      </p:sp>
      <p:sp>
        <p:nvSpPr>
          <p:cNvPr id="15" name="Text 13"/>
          <p:cNvSpPr/>
          <p:nvPr/>
        </p:nvSpPr>
        <p:spPr>
          <a:xfrm>
            <a:off x="2240280" y="3429000"/>
            <a:ext cx="9262872" cy="86868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Abuse of PowerShell, WMI, Python, SSH, RDP, and cloud CLIs — attackers blend into normal admin activity.</a:t>
            </a:r>
            <a:endParaRPr lang="en-US" sz="1050" dirty="0"/>
          </a:p>
        </p:txBody>
      </p:sp>
      <p:sp>
        <p:nvSpPr>
          <p:cNvPr id="16" name="Shape 14"/>
          <p:cNvSpPr/>
          <p:nvPr/>
        </p:nvSpPr>
        <p:spPr>
          <a:xfrm>
            <a:off x="502920" y="4434840"/>
            <a:ext cx="1417320" cy="868680"/>
          </a:xfrm>
          <a:prstGeom prst="roundRect">
            <a:avLst>
              <a:gd name="adj" fmla="val 7368"/>
            </a:avLst>
          </a:prstGeom>
          <a:solidFill>
            <a:srgbClr val="1B2A4A"/>
          </a:solidFill>
          <a:ln/>
        </p:spPr>
      </p:sp>
      <p:sp>
        <p:nvSpPr>
          <p:cNvPr id="17" name="Text 15"/>
          <p:cNvSpPr/>
          <p:nvPr/>
        </p:nvSpPr>
        <p:spPr>
          <a:xfrm>
            <a:off x="576072" y="4434840"/>
            <a:ext cx="1271016"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Ransomware</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evolution</a:t>
            </a:r>
            <a:endParaRPr lang="en-US" sz="1050" dirty="0"/>
          </a:p>
        </p:txBody>
      </p:sp>
      <p:sp>
        <p:nvSpPr>
          <p:cNvPr id="18" name="Shape 16"/>
          <p:cNvSpPr/>
          <p:nvPr/>
        </p:nvSpPr>
        <p:spPr>
          <a:xfrm>
            <a:off x="2057400" y="4434840"/>
            <a:ext cx="9628632" cy="868680"/>
          </a:xfrm>
          <a:prstGeom prst="roundRect">
            <a:avLst>
              <a:gd name="adj" fmla="val 7368"/>
            </a:avLst>
          </a:prstGeom>
          <a:solidFill>
            <a:srgbClr val="F2F5FA"/>
          </a:solidFill>
          <a:ln/>
        </p:spPr>
      </p:sp>
      <p:sp>
        <p:nvSpPr>
          <p:cNvPr id="19" name="Text 17"/>
          <p:cNvSpPr/>
          <p:nvPr/>
        </p:nvSpPr>
        <p:spPr>
          <a:xfrm>
            <a:off x="2240280" y="4434840"/>
            <a:ext cx="9262872" cy="86868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Now a mix of data theft, extortion, and service disruption. Backups restore files but don't stop extortion of stolen data.</a:t>
            </a:r>
            <a:endParaRPr lang="en-US" sz="1050" dirty="0"/>
          </a:p>
        </p:txBody>
      </p:sp>
      <p:sp>
        <p:nvSpPr>
          <p:cNvPr id="20" name="Shape 18"/>
          <p:cNvSpPr/>
          <p:nvPr/>
        </p:nvSpPr>
        <p:spPr>
          <a:xfrm>
            <a:off x="502920" y="5486400"/>
            <a:ext cx="11183112" cy="685800"/>
          </a:xfrm>
          <a:prstGeom prst="roundRect">
            <a:avLst>
              <a:gd name="adj" fmla="val 10667"/>
            </a:avLst>
          </a:prstGeom>
          <a:solidFill>
            <a:srgbClr val="F2F5FA"/>
          </a:solidFill>
          <a:ln/>
        </p:spPr>
      </p:sp>
      <p:sp>
        <p:nvSpPr>
          <p:cNvPr id="21" name="Text 19"/>
          <p:cNvSpPr/>
          <p:nvPr/>
        </p:nvSpPr>
        <p:spPr>
          <a:xfrm>
            <a:off x="822960" y="5486400"/>
            <a:ext cx="10543032" cy="685800"/>
          </a:xfrm>
          <a:prstGeom prst="rect">
            <a:avLst/>
          </a:prstGeom>
          <a:noFill/>
          <a:ln/>
        </p:spPr>
        <p:txBody>
          <a:bodyPr wrap="square" lIns="0" tIns="0" rIns="0" bIns="0" rtlCol="0" anchor="ctr"/>
          <a:lstStyle/>
          <a:p>
            <a:pPr algn="l" indent="0" marL="0">
              <a:lnSpc>
                <a:spcPct val="115000"/>
              </a:lnSpc>
              <a:buNone/>
            </a:pPr>
            <a:r>
              <a:rPr lang="en-US" sz="1200" i="1" dirty="0">
                <a:solidFill>
                  <a:srgbClr val="1B2A4A"/>
                </a:solidFill>
                <a:latin typeface="Cambria" pitchFamily="34" charset="0"/>
                <a:ea typeface="Cambria" pitchFamily="34" charset="-122"/>
                <a:cs typeface="Cambria" pitchFamily="34" charset="-120"/>
              </a:rPr>
              <a:t>A backup that has never been restored is an assumption, not a recovery strategy.</a:t>
            </a:r>
            <a:endParaRPr lang="en-US" sz="1200" dirty="0"/>
          </a:p>
        </p:txBody>
      </p:sp>
      <p:sp>
        <p:nvSpPr>
          <p:cNvPr id="22" name="Text 20"/>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23" name="Text 21"/>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Still Relevant — Social Engineering &amp; MITM</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The classics haven't gone anywhere.</a:t>
            </a:r>
            <a:endParaRPr lang="en-US" sz="1200" dirty="0"/>
          </a:p>
        </p:txBody>
      </p:sp>
      <p:sp>
        <p:nvSpPr>
          <p:cNvPr id="4" name="Shape 2"/>
          <p:cNvSpPr/>
          <p:nvPr/>
        </p:nvSpPr>
        <p:spPr>
          <a:xfrm>
            <a:off x="502920" y="1508760"/>
            <a:ext cx="1417320" cy="1051560"/>
          </a:xfrm>
          <a:prstGeom prst="roundRect">
            <a:avLst>
              <a:gd name="adj" fmla="val 6087"/>
            </a:avLst>
          </a:prstGeom>
          <a:solidFill>
            <a:srgbClr val="1B2A4A"/>
          </a:solidFill>
          <a:ln/>
        </p:spPr>
      </p:sp>
      <p:sp>
        <p:nvSpPr>
          <p:cNvPr id="5" name="Text 3"/>
          <p:cNvSpPr/>
          <p:nvPr/>
        </p:nvSpPr>
        <p:spPr>
          <a:xfrm>
            <a:off x="576072" y="1508760"/>
            <a:ext cx="1271016" cy="105156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Social</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6" name="Shape 4"/>
          <p:cNvSpPr/>
          <p:nvPr/>
        </p:nvSpPr>
        <p:spPr>
          <a:xfrm>
            <a:off x="2057400" y="1508760"/>
            <a:ext cx="9628632" cy="1051560"/>
          </a:xfrm>
          <a:prstGeom prst="roundRect">
            <a:avLst>
              <a:gd name="adj" fmla="val 6087"/>
            </a:avLst>
          </a:prstGeom>
          <a:solidFill>
            <a:srgbClr val="F2F5FA"/>
          </a:solidFill>
          <a:ln/>
        </p:spPr>
      </p:sp>
      <p:sp>
        <p:nvSpPr>
          <p:cNvPr id="7" name="Text 5"/>
          <p:cNvSpPr/>
          <p:nvPr/>
        </p:nvSpPr>
        <p:spPr>
          <a:xfrm>
            <a:off x="2240280" y="1508760"/>
            <a:ext cx="9262872" cy="105156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Tricking people, not machines — pretending to be someone you trust.  Defend: verify who you're talking to, independently.</a:t>
            </a:r>
            <a:endParaRPr lang="en-US" sz="1050" dirty="0"/>
          </a:p>
        </p:txBody>
      </p:sp>
      <p:sp>
        <p:nvSpPr>
          <p:cNvPr id="8" name="Shape 6"/>
          <p:cNvSpPr/>
          <p:nvPr/>
        </p:nvSpPr>
        <p:spPr>
          <a:xfrm>
            <a:off x="502920" y="2788920"/>
            <a:ext cx="1417320" cy="1051560"/>
          </a:xfrm>
          <a:prstGeom prst="roundRect">
            <a:avLst>
              <a:gd name="adj" fmla="val 6087"/>
            </a:avLst>
          </a:prstGeom>
          <a:solidFill>
            <a:srgbClr val="1B2A4A"/>
          </a:solidFill>
          <a:ln/>
        </p:spPr>
      </p:sp>
      <p:sp>
        <p:nvSpPr>
          <p:cNvPr id="9" name="Text 7"/>
          <p:cNvSpPr/>
          <p:nvPr/>
        </p:nvSpPr>
        <p:spPr>
          <a:xfrm>
            <a:off x="576072" y="2788920"/>
            <a:ext cx="1271016" cy="105156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Man-in-the-</a:t>
            </a:r>
            <a:endParaRPr lang="en-US" sz="1050" dirty="0"/>
          </a:p>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middle</a:t>
            </a:r>
            <a:endParaRPr lang="en-US" sz="1050" dirty="0"/>
          </a:p>
        </p:txBody>
      </p:sp>
      <p:sp>
        <p:nvSpPr>
          <p:cNvPr id="10" name="Shape 8"/>
          <p:cNvSpPr/>
          <p:nvPr/>
        </p:nvSpPr>
        <p:spPr>
          <a:xfrm>
            <a:off x="2057400" y="2788920"/>
            <a:ext cx="9628632" cy="1051560"/>
          </a:xfrm>
          <a:prstGeom prst="roundRect">
            <a:avLst>
              <a:gd name="adj" fmla="val 6087"/>
            </a:avLst>
          </a:prstGeom>
          <a:solidFill>
            <a:srgbClr val="F2F5FA"/>
          </a:solidFill>
          <a:ln/>
        </p:spPr>
      </p:sp>
      <p:sp>
        <p:nvSpPr>
          <p:cNvPr id="11" name="Text 9"/>
          <p:cNvSpPr/>
          <p:nvPr/>
        </p:nvSpPr>
        <p:spPr>
          <a:xfrm>
            <a:off x="2240280" y="2788920"/>
            <a:ext cx="9262872" cy="1051560"/>
          </a:xfrm>
          <a:prstGeom prst="rect">
            <a:avLst/>
          </a:prstGeom>
          <a:noFill/>
          <a:ln/>
        </p:spPr>
        <p:txBody>
          <a:bodyPr wrap="square" lIns="0" tIns="0" rIns="0" bIns="0" rtlCol="0" anchor="ctr"/>
          <a:lstStyle/>
          <a:p>
            <a:pPr indent="0" marL="0">
              <a:lnSpc>
                <a:spcPct val="100000"/>
              </a:lnSpc>
              <a:buNone/>
            </a:pPr>
            <a:r>
              <a:rPr lang="en-US" sz="1050" dirty="0">
                <a:solidFill>
                  <a:srgbClr val="5A6472"/>
                </a:solidFill>
                <a:latin typeface="Calibri" pitchFamily="34" charset="0"/>
                <a:ea typeface="Calibri" pitchFamily="34" charset="-122"/>
                <a:cs typeface="Calibri" pitchFamily="34" charset="-120"/>
              </a:rPr>
              <a:t>Eavesdropping on unsecured Wi-Fi or intercepting traffic.  Defend: use HTTPS and a trusted VPN.</a:t>
            </a:r>
            <a:endParaRPr lang="en-US" sz="1050" dirty="0"/>
          </a:p>
        </p:txBody>
      </p:sp>
      <p:sp>
        <p:nvSpPr>
          <p:cNvPr id="12" name="Shape 10"/>
          <p:cNvSpPr/>
          <p:nvPr/>
        </p:nvSpPr>
        <p:spPr>
          <a:xfrm>
            <a:off x="502920" y="4023360"/>
            <a:ext cx="11183112" cy="914400"/>
          </a:xfrm>
          <a:prstGeom prst="roundRect">
            <a:avLst>
              <a:gd name="adj" fmla="val 8000"/>
            </a:avLst>
          </a:prstGeom>
          <a:solidFill>
            <a:srgbClr val="F2F5FA"/>
          </a:solidFill>
          <a:ln/>
        </p:spPr>
      </p:sp>
      <p:sp>
        <p:nvSpPr>
          <p:cNvPr id="13" name="Text 11"/>
          <p:cNvSpPr/>
          <p:nvPr/>
        </p:nvSpPr>
        <p:spPr>
          <a:xfrm>
            <a:off x="822960" y="4023360"/>
            <a:ext cx="10543032" cy="914400"/>
          </a:xfrm>
          <a:prstGeom prst="rect">
            <a:avLst/>
          </a:prstGeom>
          <a:noFill/>
          <a:ln/>
        </p:spPr>
        <p:txBody>
          <a:bodyPr wrap="square" lIns="0" tIns="0" rIns="0" bIns="0" rtlCol="0" anchor="ctr"/>
          <a:lstStyle/>
          <a:p>
            <a:pPr algn="l" indent="0" marL="0">
              <a:lnSpc>
                <a:spcPct val="115000"/>
              </a:lnSpc>
              <a:buNone/>
            </a:pPr>
            <a:r>
              <a:rPr lang="en-US" sz="1300" i="1" dirty="0">
                <a:solidFill>
                  <a:srgbClr val="1B2A4A"/>
                </a:solidFill>
                <a:latin typeface="Cambria" pitchFamily="34" charset="0"/>
                <a:ea typeface="Cambria" pitchFamily="34" charset="-122"/>
                <a:cs typeface="Cambria" pitchFamily="34" charset="-120"/>
              </a:rPr>
              <a:t>People are often the weakest link — and the easiest to protect with good habits.</a:t>
            </a:r>
            <a:endParaRPr lang="en-US" sz="1300" dirty="0"/>
          </a:p>
        </p:txBody>
      </p:sp>
      <p:sp>
        <p:nvSpPr>
          <p:cNvPr id="14" name="Text 12"/>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15" name="Text 13"/>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Identity &amp; Password Attacks</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MFA is essential — but identity is now the real battleground.</a:t>
            </a:r>
            <a:endParaRPr lang="en-US" sz="1200" dirty="0"/>
          </a:p>
        </p:txBody>
      </p:sp>
      <p:sp>
        <p:nvSpPr>
          <p:cNvPr id="4" name="Shape 2"/>
          <p:cNvSpPr/>
          <p:nvPr/>
        </p:nvSpPr>
        <p:spPr>
          <a:xfrm>
            <a:off x="502920" y="1417320"/>
            <a:ext cx="5486400" cy="457200"/>
          </a:xfrm>
          <a:prstGeom prst="roundRect">
            <a:avLst>
              <a:gd name="adj" fmla="val 16000"/>
            </a:avLst>
          </a:prstGeom>
          <a:solidFill>
            <a:srgbClr val="F2F5FA"/>
          </a:solidFill>
          <a:ln/>
        </p:spPr>
      </p:sp>
      <p:sp>
        <p:nvSpPr>
          <p:cNvPr id="5" name="Text 3"/>
          <p:cNvSpPr/>
          <p:nvPr/>
        </p:nvSpPr>
        <p:spPr>
          <a:xfrm>
            <a:off x="685800" y="1417320"/>
            <a:ext cx="5120640" cy="45720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Evolving attacks</a:t>
            </a:r>
            <a:endParaRPr lang="en-US" sz="1400" dirty="0"/>
          </a:p>
        </p:txBody>
      </p:sp>
      <p:sp>
        <p:nvSpPr>
          <p:cNvPr id="6" name="Text 4"/>
          <p:cNvSpPr/>
          <p:nvPr/>
        </p:nvSpPr>
        <p:spPr>
          <a:xfrm>
            <a:off x="685800" y="2011680"/>
            <a:ext cx="5212080" cy="2468880"/>
          </a:xfrm>
          <a:prstGeom prst="rect">
            <a:avLst/>
          </a:prstGeom>
          <a:noFill/>
          <a:ln/>
        </p:spPr>
        <p:txBody>
          <a:bodyPr wrap="square" lIns="0" tIns="0" rIns="0" bIns="0" rtlCol="0" anchor="t"/>
          <a:lstStyle/>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Credential stuffing &amp; password spraying</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Browser cookie and session-token theft</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MFA fatigue / push-bombing, SIM swapping</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OAuth consent abuse; pass-the-cookie attacks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Theft of API keys and cloud access tokens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Abuse of service accounts and machine identities</a:t>
            </a:r>
            <a:endParaRPr lang="en-US" sz="1080" dirty="0"/>
          </a:p>
        </p:txBody>
      </p:sp>
      <p:sp>
        <p:nvSpPr>
          <p:cNvPr id="7" name="Shape 5"/>
          <p:cNvSpPr/>
          <p:nvPr/>
        </p:nvSpPr>
        <p:spPr>
          <a:xfrm>
            <a:off x="6199632" y="1417320"/>
            <a:ext cx="5486400" cy="457200"/>
          </a:xfrm>
          <a:prstGeom prst="roundRect">
            <a:avLst>
              <a:gd name="adj" fmla="val 16000"/>
            </a:avLst>
          </a:prstGeom>
          <a:solidFill>
            <a:srgbClr val="E7F7EE"/>
          </a:solidFill>
          <a:ln/>
        </p:spPr>
      </p:sp>
      <p:sp>
        <p:nvSpPr>
          <p:cNvPr id="8" name="Text 6"/>
          <p:cNvSpPr/>
          <p:nvPr/>
        </p:nvSpPr>
        <p:spPr>
          <a:xfrm>
            <a:off x="6382512" y="1417320"/>
            <a:ext cx="5120640" cy="457200"/>
          </a:xfrm>
          <a:prstGeom prst="rect">
            <a:avLst/>
          </a:prstGeom>
          <a:noFill/>
          <a:ln/>
        </p:spPr>
        <p:txBody>
          <a:bodyPr wrap="square" lIns="0" tIns="0" rIns="0" bIns="0" rtlCol="0" anchor="ctr"/>
          <a:lstStyle/>
          <a:p>
            <a:pPr indent="0" marL="0">
              <a:buNone/>
            </a:pPr>
            <a:r>
              <a:rPr lang="en-US" sz="1400" b="1" dirty="0">
                <a:solidFill>
                  <a:srgbClr val="1EA854"/>
                </a:solidFill>
                <a:latin typeface="Calibri" pitchFamily="34" charset="0"/>
                <a:ea typeface="Calibri" pitchFamily="34" charset="-122"/>
                <a:cs typeface="Calibri" pitchFamily="34" charset="-120"/>
              </a:rPr>
              <a:t>Modern defense</a:t>
            </a:r>
            <a:endParaRPr lang="en-US" sz="1400" dirty="0"/>
          </a:p>
        </p:txBody>
      </p:sp>
      <p:sp>
        <p:nvSpPr>
          <p:cNvPr id="9" name="Text 7"/>
          <p:cNvSpPr/>
          <p:nvPr/>
        </p:nvSpPr>
        <p:spPr>
          <a:xfrm>
            <a:off x="6382512" y="2011680"/>
            <a:ext cx="5212080" cy="2468880"/>
          </a:xfrm>
          <a:prstGeom prst="rect">
            <a:avLst/>
          </a:prstGeom>
          <a:noFill/>
          <a:ln/>
        </p:spPr>
        <p:txBody>
          <a:bodyPr wrap="square" lIns="0" tIns="0" rIns="0" bIns="0" rtlCol="0" anchor="t"/>
          <a:lstStyle/>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Password managers with unique passwords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Phishing-resistant MFA — passkeys, security keys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Number matching on push notifications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Conditional access &amp; short-lived tokens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Least privilege; regular OAuth app review</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Remove unused accounts and API keys</a:t>
            </a:r>
            <a:endParaRPr lang="en-US" sz="1080" dirty="0"/>
          </a:p>
        </p:txBody>
      </p:sp>
      <p:sp>
        <p:nvSpPr>
          <p:cNvPr id="10" name="Shape 8"/>
          <p:cNvSpPr/>
          <p:nvPr/>
        </p:nvSpPr>
        <p:spPr>
          <a:xfrm>
            <a:off x="502920" y="4663440"/>
            <a:ext cx="11183112" cy="1463040"/>
          </a:xfrm>
          <a:prstGeom prst="roundRect">
            <a:avLst>
              <a:gd name="adj" fmla="val 5000"/>
            </a:avLst>
          </a:prstGeom>
          <a:solidFill>
            <a:srgbClr val="1B2A4A"/>
          </a:solidFill>
          <a:ln/>
        </p:spPr>
      </p:sp>
      <p:sp>
        <p:nvSpPr>
          <p:cNvPr id="11" name="Text 9"/>
          <p:cNvSpPr/>
          <p:nvPr/>
        </p:nvSpPr>
        <p:spPr>
          <a:xfrm>
            <a:off x="822960" y="4663440"/>
            <a:ext cx="10543032" cy="1463040"/>
          </a:xfrm>
          <a:prstGeom prst="rect">
            <a:avLst/>
          </a:prstGeom>
          <a:noFill/>
          <a:ln/>
        </p:spPr>
        <p:txBody>
          <a:bodyPr wrap="square" lIns="0" tIns="0" rIns="0" bIns="0" rtlCol="0" anchor="ctr"/>
          <a:lstStyle/>
          <a:p>
            <a:pPr algn="l" indent="0" marL="0">
              <a:lnSpc>
                <a:spcPct val="115000"/>
              </a:lnSpc>
              <a:buNone/>
            </a:pPr>
            <a:r>
              <a:rPr lang="en-US" sz="1250" i="1" dirty="0">
                <a:solidFill>
                  <a:srgbClr val="FFFFFF"/>
                </a:solidFill>
                <a:latin typeface="Cambria" pitchFamily="34" charset="0"/>
                <a:ea typeface="Cambria" pitchFamily="34" charset="-122"/>
                <a:cs typeface="Cambria" pitchFamily="34" charset="-120"/>
              </a:rPr>
              <a:t>“MFA is important, but not all MFA is equally resistant to phishing.” Attackers increasingly target sessions, recovery processes, help desks, and users who approve fraudulent prompts.</a:t>
            </a:r>
            <a:endParaRPr lang="en-US" sz="1250" dirty="0"/>
          </a:p>
        </p:txBody>
      </p:sp>
      <p:sp>
        <p:nvSpPr>
          <p:cNvPr id="12" name="Text 10"/>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13" name="Text 11"/>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The Modern Attack Surface</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Security no longer ends at the network perimeter.</a:t>
            </a:r>
            <a:endParaRPr lang="en-US" sz="1200" dirty="0"/>
          </a:p>
        </p:txBody>
      </p:sp>
      <p:sp>
        <p:nvSpPr>
          <p:cNvPr id="4" name="Shape 2"/>
          <p:cNvSpPr/>
          <p:nvPr/>
        </p:nvSpPr>
        <p:spPr>
          <a:xfrm>
            <a:off x="502920" y="1417320"/>
            <a:ext cx="1726692" cy="626364"/>
          </a:xfrm>
          <a:prstGeom prst="roundRect">
            <a:avLst>
              <a:gd name="adj" fmla="val 8759"/>
            </a:avLst>
          </a:prstGeom>
          <a:solidFill>
            <a:srgbClr val="F2F5FA"/>
          </a:solidFill>
          <a:ln w="9525">
            <a:solidFill>
              <a:srgbClr val="C9D4E6"/>
            </a:solidFill>
            <a:prstDash val="solid"/>
          </a:ln>
        </p:spPr>
      </p:sp>
      <p:sp>
        <p:nvSpPr>
          <p:cNvPr id="5" name="Text 3"/>
          <p:cNvSpPr/>
          <p:nvPr/>
        </p:nvSpPr>
        <p:spPr>
          <a:xfrm>
            <a:off x="594360" y="1417320"/>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Cloud identities</a:t>
            </a:r>
            <a:endParaRPr lang="en-US" sz="1000" dirty="0"/>
          </a:p>
        </p:txBody>
      </p:sp>
      <p:sp>
        <p:nvSpPr>
          <p:cNvPr id="6" name="Shape 4"/>
          <p:cNvSpPr/>
          <p:nvPr/>
        </p:nvSpPr>
        <p:spPr>
          <a:xfrm>
            <a:off x="2394204" y="1417320"/>
            <a:ext cx="1726692" cy="626364"/>
          </a:xfrm>
          <a:prstGeom prst="roundRect">
            <a:avLst>
              <a:gd name="adj" fmla="val 8759"/>
            </a:avLst>
          </a:prstGeom>
          <a:solidFill>
            <a:srgbClr val="F2F5FA"/>
          </a:solidFill>
          <a:ln w="9525">
            <a:solidFill>
              <a:srgbClr val="C9D4E6"/>
            </a:solidFill>
            <a:prstDash val="solid"/>
          </a:ln>
        </p:spPr>
      </p:sp>
      <p:sp>
        <p:nvSpPr>
          <p:cNvPr id="7" name="Text 5"/>
          <p:cNvSpPr/>
          <p:nvPr/>
        </p:nvSpPr>
        <p:spPr>
          <a:xfrm>
            <a:off x="2485644" y="1417320"/>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SaaS apps</a:t>
            </a:r>
            <a:endParaRPr lang="en-US" sz="1000" dirty="0"/>
          </a:p>
        </p:txBody>
      </p:sp>
      <p:sp>
        <p:nvSpPr>
          <p:cNvPr id="8" name="Shape 6"/>
          <p:cNvSpPr/>
          <p:nvPr/>
        </p:nvSpPr>
        <p:spPr>
          <a:xfrm>
            <a:off x="4285488" y="1417320"/>
            <a:ext cx="1726692" cy="626364"/>
          </a:xfrm>
          <a:prstGeom prst="roundRect">
            <a:avLst>
              <a:gd name="adj" fmla="val 8759"/>
            </a:avLst>
          </a:prstGeom>
          <a:solidFill>
            <a:srgbClr val="F2F5FA"/>
          </a:solidFill>
          <a:ln w="9525">
            <a:solidFill>
              <a:srgbClr val="C9D4E6"/>
            </a:solidFill>
            <a:prstDash val="solid"/>
          </a:ln>
        </p:spPr>
      </p:sp>
      <p:sp>
        <p:nvSpPr>
          <p:cNvPr id="9" name="Text 7"/>
          <p:cNvSpPr/>
          <p:nvPr/>
        </p:nvSpPr>
        <p:spPr>
          <a:xfrm>
            <a:off x="4376928" y="1417320"/>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APIs</a:t>
            </a:r>
            <a:endParaRPr lang="en-US" sz="1000" dirty="0"/>
          </a:p>
        </p:txBody>
      </p:sp>
      <p:sp>
        <p:nvSpPr>
          <p:cNvPr id="10" name="Shape 8"/>
          <p:cNvSpPr/>
          <p:nvPr/>
        </p:nvSpPr>
        <p:spPr>
          <a:xfrm>
            <a:off x="6176772" y="1417320"/>
            <a:ext cx="1726692" cy="626364"/>
          </a:xfrm>
          <a:prstGeom prst="roundRect">
            <a:avLst>
              <a:gd name="adj" fmla="val 8759"/>
            </a:avLst>
          </a:prstGeom>
          <a:solidFill>
            <a:srgbClr val="F2F5FA"/>
          </a:solidFill>
          <a:ln w="9525">
            <a:solidFill>
              <a:srgbClr val="C9D4E6"/>
            </a:solidFill>
            <a:prstDash val="solid"/>
          </a:ln>
        </p:spPr>
      </p:sp>
      <p:sp>
        <p:nvSpPr>
          <p:cNvPr id="11" name="Text 9"/>
          <p:cNvSpPr/>
          <p:nvPr/>
        </p:nvSpPr>
        <p:spPr>
          <a:xfrm>
            <a:off x="6268212" y="1417320"/>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Containers / K8s</a:t>
            </a:r>
            <a:endParaRPr lang="en-US" sz="1000" dirty="0"/>
          </a:p>
        </p:txBody>
      </p:sp>
      <p:sp>
        <p:nvSpPr>
          <p:cNvPr id="12" name="Shape 10"/>
          <p:cNvSpPr/>
          <p:nvPr/>
        </p:nvSpPr>
        <p:spPr>
          <a:xfrm>
            <a:off x="8068056" y="1417320"/>
            <a:ext cx="1726692" cy="626364"/>
          </a:xfrm>
          <a:prstGeom prst="roundRect">
            <a:avLst>
              <a:gd name="adj" fmla="val 8759"/>
            </a:avLst>
          </a:prstGeom>
          <a:solidFill>
            <a:srgbClr val="F2F5FA"/>
          </a:solidFill>
          <a:ln w="9525">
            <a:solidFill>
              <a:srgbClr val="C9D4E6"/>
            </a:solidFill>
            <a:prstDash val="solid"/>
          </a:ln>
        </p:spPr>
      </p:sp>
      <p:sp>
        <p:nvSpPr>
          <p:cNvPr id="13" name="Text 11"/>
          <p:cNvSpPr/>
          <p:nvPr/>
        </p:nvSpPr>
        <p:spPr>
          <a:xfrm>
            <a:off x="8159496" y="1417320"/>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CI/CD systems</a:t>
            </a:r>
            <a:endParaRPr lang="en-US" sz="1000" dirty="0"/>
          </a:p>
        </p:txBody>
      </p:sp>
      <p:sp>
        <p:nvSpPr>
          <p:cNvPr id="14" name="Shape 12"/>
          <p:cNvSpPr/>
          <p:nvPr/>
        </p:nvSpPr>
        <p:spPr>
          <a:xfrm>
            <a:off x="9959340" y="1417320"/>
            <a:ext cx="1726692" cy="626364"/>
          </a:xfrm>
          <a:prstGeom prst="roundRect">
            <a:avLst>
              <a:gd name="adj" fmla="val 8759"/>
            </a:avLst>
          </a:prstGeom>
          <a:solidFill>
            <a:srgbClr val="F2F5FA"/>
          </a:solidFill>
          <a:ln w="9525">
            <a:solidFill>
              <a:srgbClr val="C9D4E6"/>
            </a:solidFill>
            <a:prstDash val="solid"/>
          </a:ln>
        </p:spPr>
      </p:sp>
      <p:sp>
        <p:nvSpPr>
          <p:cNvPr id="15" name="Text 13"/>
          <p:cNvSpPr/>
          <p:nvPr/>
        </p:nvSpPr>
        <p:spPr>
          <a:xfrm>
            <a:off x="10050780" y="1417320"/>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Code repositories</a:t>
            </a:r>
            <a:endParaRPr lang="en-US" sz="1000" dirty="0"/>
          </a:p>
        </p:txBody>
      </p:sp>
      <p:sp>
        <p:nvSpPr>
          <p:cNvPr id="16" name="Shape 14"/>
          <p:cNvSpPr/>
          <p:nvPr/>
        </p:nvSpPr>
        <p:spPr>
          <a:xfrm>
            <a:off x="502920" y="2208276"/>
            <a:ext cx="1726692" cy="626364"/>
          </a:xfrm>
          <a:prstGeom prst="roundRect">
            <a:avLst>
              <a:gd name="adj" fmla="val 8759"/>
            </a:avLst>
          </a:prstGeom>
          <a:solidFill>
            <a:srgbClr val="F2F5FA"/>
          </a:solidFill>
          <a:ln w="9525">
            <a:solidFill>
              <a:srgbClr val="C9D4E6"/>
            </a:solidFill>
            <a:prstDash val="solid"/>
          </a:ln>
        </p:spPr>
      </p:sp>
      <p:sp>
        <p:nvSpPr>
          <p:cNvPr id="17" name="Text 15"/>
          <p:cNvSpPr/>
          <p:nvPr/>
        </p:nvSpPr>
        <p:spPr>
          <a:xfrm>
            <a:off x="594360" y="2208276"/>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Package registries</a:t>
            </a:r>
            <a:endParaRPr lang="en-US" sz="1000" dirty="0"/>
          </a:p>
        </p:txBody>
      </p:sp>
      <p:sp>
        <p:nvSpPr>
          <p:cNvPr id="18" name="Shape 16"/>
          <p:cNvSpPr/>
          <p:nvPr/>
        </p:nvSpPr>
        <p:spPr>
          <a:xfrm>
            <a:off x="2394204" y="2208276"/>
            <a:ext cx="1726692" cy="626364"/>
          </a:xfrm>
          <a:prstGeom prst="roundRect">
            <a:avLst>
              <a:gd name="adj" fmla="val 8759"/>
            </a:avLst>
          </a:prstGeom>
          <a:solidFill>
            <a:srgbClr val="F2F5FA"/>
          </a:solidFill>
          <a:ln w="9525">
            <a:solidFill>
              <a:srgbClr val="C9D4E6"/>
            </a:solidFill>
            <a:prstDash val="solid"/>
          </a:ln>
        </p:spPr>
      </p:sp>
      <p:sp>
        <p:nvSpPr>
          <p:cNvPr id="19" name="Text 17"/>
          <p:cNvSpPr/>
          <p:nvPr/>
        </p:nvSpPr>
        <p:spPr>
          <a:xfrm>
            <a:off x="2485644" y="2208276"/>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Remote access</a:t>
            </a:r>
            <a:endParaRPr lang="en-US" sz="1000" dirty="0"/>
          </a:p>
        </p:txBody>
      </p:sp>
      <p:sp>
        <p:nvSpPr>
          <p:cNvPr id="20" name="Shape 18"/>
          <p:cNvSpPr/>
          <p:nvPr/>
        </p:nvSpPr>
        <p:spPr>
          <a:xfrm>
            <a:off x="4285488" y="2208276"/>
            <a:ext cx="1726692" cy="626364"/>
          </a:xfrm>
          <a:prstGeom prst="roundRect">
            <a:avLst>
              <a:gd name="adj" fmla="val 8759"/>
            </a:avLst>
          </a:prstGeom>
          <a:solidFill>
            <a:srgbClr val="F2F5FA"/>
          </a:solidFill>
          <a:ln w="9525">
            <a:solidFill>
              <a:srgbClr val="C9D4E6"/>
            </a:solidFill>
            <a:prstDash val="solid"/>
          </a:ln>
        </p:spPr>
      </p:sp>
      <p:sp>
        <p:nvSpPr>
          <p:cNvPr id="21" name="Text 19"/>
          <p:cNvSpPr/>
          <p:nvPr/>
        </p:nvSpPr>
        <p:spPr>
          <a:xfrm>
            <a:off x="4376928" y="2208276"/>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Mobile devices</a:t>
            </a:r>
            <a:endParaRPr lang="en-US" sz="1000" dirty="0"/>
          </a:p>
        </p:txBody>
      </p:sp>
      <p:sp>
        <p:nvSpPr>
          <p:cNvPr id="22" name="Shape 20"/>
          <p:cNvSpPr/>
          <p:nvPr/>
        </p:nvSpPr>
        <p:spPr>
          <a:xfrm>
            <a:off x="6176772" y="2208276"/>
            <a:ext cx="1726692" cy="626364"/>
          </a:xfrm>
          <a:prstGeom prst="roundRect">
            <a:avLst>
              <a:gd name="adj" fmla="val 8759"/>
            </a:avLst>
          </a:prstGeom>
          <a:solidFill>
            <a:srgbClr val="F2F5FA"/>
          </a:solidFill>
          <a:ln w="9525">
            <a:solidFill>
              <a:srgbClr val="C9D4E6"/>
            </a:solidFill>
            <a:prstDash val="solid"/>
          </a:ln>
        </p:spPr>
      </p:sp>
      <p:sp>
        <p:nvSpPr>
          <p:cNvPr id="23" name="Text 21"/>
          <p:cNvSpPr/>
          <p:nvPr/>
        </p:nvSpPr>
        <p:spPr>
          <a:xfrm>
            <a:off x="6268212" y="2208276"/>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IoT / OT</a:t>
            </a:r>
            <a:endParaRPr lang="en-US" sz="1000" dirty="0"/>
          </a:p>
        </p:txBody>
      </p:sp>
      <p:sp>
        <p:nvSpPr>
          <p:cNvPr id="24" name="Shape 22"/>
          <p:cNvSpPr/>
          <p:nvPr/>
        </p:nvSpPr>
        <p:spPr>
          <a:xfrm>
            <a:off x="8068056" y="2208276"/>
            <a:ext cx="1726692" cy="626364"/>
          </a:xfrm>
          <a:prstGeom prst="roundRect">
            <a:avLst>
              <a:gd name="adj" fmla="val 8759"/>
            </a:avLst>
          </a:prstGeom>
          <a:solidFill>
            <a:srgbClr val="F2F5FA"/>
          </a:solidFill>
          <a:ln w="9525">
            <a:solidFill>
              <a:srgbClr val="C9D4E6"/>
            </a:solidFill>
            <a:prstDash val="solid"/>
          </a:ln>
        </p:spPr>
      </p:sp>
      <p:sp>
        <p:nvSpPr>
          <p:cNvPr id="25" name="Text 23"/>
          <p:cNvSpPr/>
          <p:nvPr/>
        </p:nvSpPr>
        <p:spPr>
          <a:xfrm>
            <a:off x="8159496" y="2208276"/>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Third-party suppliers</a:t>
            </a:r>
            <a:endParaRPr lang="en-US" sz="1000" dirty="0"/>
          </a:p>
        </p:txBody>
      </p:sp>
      <p:sp>
        <p:nvSpPr>
          <p:cNvPr id="26" name="Shape 24"/>
          <p:cNvSpPr/>
          <p:nvPr/>
        </p:nvSpPr>
        <p:spPr>
          <a:xfrm>
            <a:off x="9959340" y="2208276"/>
            <a:ext cx="1726692" cy="626364"/>
          </a:xfrm>
          <a:prstGeom prst="roundRect">
            <a:avLst>
              <a:gd name="adj" fmla="val 8759"/>
            </a:avLst>
          </a:prstGeom>
          <a:solidFill>
            <a:srgbClr val="F2F5FA"/>
          </a:solidFill>
          <a:ln w="9525">
            <a:solidFill>
              <a:srgbClr val="C9D4E6"/>
            </a:solidFill>
            <a:prstDash val="solid"/>
          </a:ln>
        </p:spPr>
      </p:sp>
      <p:sp>
        <p:nvSpPr>
          <p:cNvPr id="27" name="Text 25"/>
          <p:cNvSpPr/>
          <p:nvPr/>
        </p:nvSpPr>
        <p:spPr>
          <a:xfrm>
            <a:off x="10050780" y="2208276"/>
            <a:ext cx="1543812" cy="626364"/>
          </a:xfrm>
          <a:prstGeom prst="rect">
            <a:avLst/>
          </a:prstGeom>
          <a:noFill/>
          <a:ln/>
        </p:spPr>
        <p:txBody>
          <a:bodyPr wrap="square" lIns="0" tIns="0" rIns="0" bIns="0" rtlCol="0" anchor="ctr"/>
          <a:lstStyle/>
          <a:p>
            <a:pPr algn="ctr" indent="0" marL="0">
              <a:lnSpc>
                <a:spcPct val="95000"/>
              </a:lnSpc>
              <a:buNone/>
            </a:pPr>
            <a:r>
              <a:rPr lang="en-US" sz="1000" b="1" dirty="0">
                <a:solidFill>
                  <a:srgbClr val="1B2A4A"/>
                </a:solidFill>
                <a:latin typeface="Calibri" pitchFamily="34" charset="0"/>
                <a:ea typeface="Calibri" pitchFamily="34" charset="-122"/>
                <a:cs typeface="Calibri" pitchFamily="34" charset="-120"/>
              </a:rPr>
              <a:t>MSPs</a:t>
            </a:r>
            <a:endParaRPr lang="en-US" sz="1000" dirty="0"/>
          </a:p>
        </p:txBody>
      </p:sp>
      <p:sp>
        <p:nvSpPr>
          <p:cNvPr id="28" name="Shape 26"/>
          <p:cNvSpPr/>
          <p:nvPr/>
        </p:nvSpPr>
        <p:spPr>
          <a:xfrm>
            <a:off x="502920" y="3017520"/>
            <a:ext cx="11183112" cy="914400"/>
          </a:xfrm>
          <a:prstGeom prst="roundRect">
            <a:avLst>
              <a:gd name="adj" fmla="val 8000"/>
            </a:avLst>
          </a:prstGeom>
          <a:solidFill>
            <a:srgbClr val="1B2A4A"/>
          </a:solidFill>
          <a:ln/>
        </p:spPr>
      </p:sp>
      <p:sp>
        <p:nvSpPr>
          <p:cNvPr id="29" name="Text 27"/>
          <p:cNvSpPr/>
          <p:nvPr/>
        </p:nvSpPr>
        <p:spPr>
          <a:xfrm>
            <a:off x="822960" y="3017520"/>
            <a:ext cx="10543032" cy="914400"/>
          </a:xfrm>
          <a:prstGeom prst="rect">
            <a:avLst/>
          </a:prstGeom>
          <a:noFill/>
          <a:ln/>
        </p:spPr>
        <p:txBody>
          <a:bodyPr wrap="square" lIns="0" tIns="0" rIns="0" bIns="0" rtlCol="0" anchor="ctr"/>
          <a:lstStyle/>
          <a:p>
            <a:pPr algn="l" indent="0" marL="0">
              <a:lnSpc>
                <a:spcPct val="115000"/>
              </a:lnSpc>
              <a:buNone/>
            </a:pPr>
            <a:r>
              <a:rPr lang="en-US" sz="1150" i="1" dirty="0">
                <a:solidFill>
                  <a:srgbClr val="FFFFFF"/>
                </a:solidFill>
                <a:latin typeface="Cambria" pitchFamily="34" charset="0"/>
                <a:ea typeface="Cambria" pitchFamily="34" charset="-122"/>
                <a:cs typeface="Cambria" pitchFamily="34" charset="-120"/>
              </a:rPr>
              <a:t>Moving a system to the cloud does not transfer all security responsibility to the provider. The provider secures the platform; the customer still secures identities, configurations, data, and permissions.</a:t>
            </a:r>
            <a:endParaRPr lang="en-US" sz="1150" dirty="0"/>
          </a:p>
        </p:txBody>
      </p:sp>
      <p:sp>
        <p:nvSpPr>
          <p:cNvPr id="30" name="Shape 28"/>
          <p:cNvSpPr/>
          <p:nvPr/>
        </p:nvSpPr>
        <p:spPr>
          <a:xfrm>
            <a:off x="502920" y="4114800"/>
            <a:ext cx="11183112" cy="457200"/>
          </a:xfrm>
          <a:prstGeom prst="roundRect">
            <a:avLst>
              <a:gd name="adj" fmla="val 16000"/>
            </a:avLst>
          </a:prstGeom>
          <a:solidFill>
            <a:srgbClr val="FCECEA"/>
          </a:solidFill>
          <a:ln/>
        </p:spPr>
      </p:sp>
      <p:sp>
        <p:nvSpPr>
          <p:cNvPr id="31" name="Text 29"/>
          <p:cNvSpPr/>
          <p:nvPr/>
        </p:nvSpPr>
        <p:spPr>
          <a:xfrm>
            <a:off x="685800" y="4114800"/>
            <a:ext cx="10817352" cy="457200"/>
          </a:xfrm>
          <a:prstGeom prst="rect">
            <a:avLst/>
          </a:prstGeom>
          <a:noFill/>
          <a:ln/>
        </p:spPr>
        <p:txBody>
          <a:bodyPr wrap="square" lIns="0" tIns="0" rIns="0" bIns="0" rtlCol="0" anchor="ctr"/>
          <a:lstStyle/>
          <a:p>
            <a:pPr indent="0" marL="0">
              <a:buNone/>
            </a:pPr>
            <a:r>
              <a:rPr lang="en-US" sz="1400" b="1" dirty="0">
                <a:solidFill>
                  <a:srgbClr val="E74C3C"/>
                </a:solidFill>
                <a:latin typeface="Calibri" pitchFamily="34" charset="0"/>
                <a:ea typeface="Calibri" pitchFamily="34" charset="-122"/>
                <a:cs typeface="Calibri" pitchFamily="34" charset="-120"/>
              </a:rPr>
              <a:t>Common risks</a:t>
            </a:r>
            <a:endParaRPr lang="en-US" sz="1400" dirty="0"/>
          </a:p>
        </p:txBody>
      </p:sp>
      <p:sp>
        <p:nvSpPr>
          <p:cNvPr id="32" name="Text 30"/>
          <p:cNvSpPr/>
          <p:nvPr/>
        </p:nvSpPr>
        <p:spPr>
          <a:xfrm>
            <a:off x="685800" y="4663440"/>
            <a:ext cx="10789920" cy="173736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Public storage buckets and overprivileged cloud roles</a:t>
            </a:r>
            <a:endParaRPr lang="en-US" sz="1100" dirty="0"/>
          </a:p>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Exposed API keys and unrestricted security groups</a:t>
            </a:r>
            <a:endParaRPr lang="en-US" sz="1100" dirty="0"/>
          </a:p>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Weak tenant isolation and compromised CI/CD secrets</a:t>
            </a:r>
            <a:endParaRPr lang="en-US" sz="1100" dirty="0"/>
          </a:p>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Insecure serverless functions and excessive OAuth permissions</a:t>
            </a:r>
            <a:endParaRPr lang="en-US" sz="1100" dirty="0"/>
          </a:p>
        </p:txBody>
      </p:sp>
      <p:sp>
        <p:nvSpPr>
          <p:cNvPr id="33" name="Text 31"/>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34" name="Text 32"/>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Software Supply-Chain Attacks</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One of the most important — and most overlooked — categories.</a:t>
            </a:r>
            <a:endParaRPr lang="en-US" sz="1200" dirty="0"/>
          </a:p>
        </p:txBody>
      </p:sp>
      <p:sp>
        <p:nvSpPr>
          <p:cNvPr id="4" name="Shape 2"/>
          <p:cNvSpPr/>
          <p:nvPr/>
        </p:nvSpPr>
        <p:spPr>
          <a:xfrm>
            <a:off x="502920" y="1417320"/>
            <a:ext cx="5486400" cy="457200"/>
          </a:xfrm>
          <a:prstGeom prst="roundRect">
            <a:avLst>
              <a:gd name="adj" fmla="val 16000"/>
            </a:avLst>
          </a:prstGeom>
          <a:solidFill>
            <a:srgbClr val="F2F5FA"/>
          </a:solidFill>
          <a:ln/>
        </p:spPr>
      </p:sp>
      <p:sp>
        <p:nvSpPr>
          <p:cNvPr id="5" name="Text 3"/>
          <p:cNvSpPr/>
          <p:nvPr/>
        </p:nvSpPr>
        <p:spPr>
          <a:xfrm>
            <a:off x="685800" y="1417320"/>
            <a:ext cx="5120640" cy="45720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Attack concepts</a:t>
            </a:r>
            <a:endParaRPr lang="en-US" sz="1400" dirty="0"/>
          </a:p>
        </p:txBody>
      </p:sp>
      <p:sp>
        <p:nvSpPr>
          <p:cNvPr id="6" name="Text 4"/>
          <p:cNvSpPr/>
          <p:nvPr/>
        </p:nvSpPr>
        <p:spPr>
          <a:xfrm>
            <a:off x="685800" y="2011680"/>
            <a:ext cx="5212080" cy="2743200"/>
          </a:xfrm>
          <a:prstGeom prst="rect">
            <a:avLst/>
          </a:prstGeom>
          <a:noFill/>
          <a:ln/>
        </p:spPr>
        <p:txBody>
          <a:bodyPr wrap="square" lIns="0" tIns="0" rIns="0" bIns="0" rtlCol="0" anchor="t"/>
          <a:lstStyle/>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Dependency confusion &amp; typosquatting</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Malicious packages and compromised maintainers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Malicious pull requests; build-pipeline compromise</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Secret leakage in repositories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Compromised update mechanisms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“Slopsquatting” — packages named after hallucinated dependencies</a:t>
            </a:r>
            <a:endParaRPr lang="en-US" sz="1080" dirty="0"/>
          </a:p>
        </p:txBody>
      </p:sp>
      <p:sp>
        <p:nvSpPr>
          <p:cNvPr id="7" name="Shape 5"/>
          <p:cNvSpPr/>
          <p:nvPr/>
        </p:nvSpPr>
        <p:spPr>
          <a:xfrm>
            <a:off x="6199632" y="1417320"/>
            <a:ext cx="5486400" cy="457200"/>
          </a:xfrm>
          <a:prstGeom prst="roundRect">
            <a:avLst>
              <a:gd name="adj" fmla="val 16000"/>
            </a:avLst>
          </a:prstGeom>
          <a:solidFill>
            <a:srgbClr val="E7F7EE"/>
          </a:solidFill>
          <a:ln/>
        </p:spPr>
      </p:sp>
      <p:sp>
        <p:nvSpPr>
          <p:cNvPr id="8" name="Text 6"/>
          <p:cNvSpPr/>
          <p:nvPr/>
        </p:nvSpPr>
        <p:spPr>
          <a:xfrm>
            <a:off x="6382512" y="1417320"/>
            <a:ext cx="5120640" cy="457200"/>
          </a:xfrm>
          <a:prstGeom prst="rect">
            <a:avLst/>
          </a:prstGeom>
          <a:noFill/>
          <a:ln/>
        </p:spPr>
        <p:txBody>
          <a:bodyPr wrap="square" lIns="0" tIns="0" rIns="0" bIns="0" rtlCol="0" anchor="ctr"/>
          <a:lstStyle/>
          <a:p>
            <a:pPr indent="0" marL="0">
              <a:buNone/>
            </a:pPr>
            <a:r>
              <a:rPr lang="en-US" sz="1400" b="1" dirty="0">
                <a:solidFill>
                  <a:srgbClr val="1EA854"/>
                </a:solidFill>
                <a:latin typeface="Calibri" pitchFamily="34" charset="0"/>
                <a:ea typeface="Calibri" pitchFamily="34" charset="-122"/>
                <a:cs typeface="Calibri" pitchFamily="34" charset="-120"/>
              </a:rPr>
              <a:t>Defenses</a:t>
            </a:r>
            <a:endParaRPr lang="en-US" sz="1400" dirty="0"/>
          </a:p>
        </p:txBody>
      </p:sp>
      <p:sp>
        <p:nvSpPr>
          <p:cNvPr id="9" name="Text 7"/>
          <p:cNvSpPr/>
          <p:nvPr/>
        </p:nvSpPr>
        <p:spPr>
          <a:xfrm>
            <a:off x="6382512" y="2011680"/>
            <a:ext cx="5212080" cy="2743200"/>
          </a:xfrm>
          <a:prstGeom prst="rect">
            <a:avLst/>
          </a:prstGeom>
          <a:noFill/>
          <a:ln/>
        </p:spPr>
        <p:txBody>
          <a:bodyPr wrap="square" lIns="0" tIns="0" rIns="0" bIns="0" rtlCol="0" anchor="t"/>
          <a:lstStyle/>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Pin and verify dependencies; use lockfiles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Scan packages and container images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Generate software bills of materials (SBOMs)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Sign releases; protect CI/CD secrets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Use short-lived build tokens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Review third-party code; restrict build permissions</a:t>
            </a:r>
            <a:endParaRPr lang="en-US" sz="1080" dirty="0"/>
          </a:p>
        </p:txBody>
      </p:sp>
      <p:sp>
        <p:nvSpPr>
          <p:cNvPr id="10" name="Text 8"/>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11" name="Text 9"/>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Artificial Intelligence: Weapon and Target</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AI doesn't create new attacks — it makes existing ones faster and cheaper.</a:t>
            </a:r>
            <a:endParaRPr lang="en-US" sz="1200" dirty="0"/>
          </a:p>
        </p:txBody>
      </p:sp>
      <p:sp>
        <p:nvSpPr>
          <p:cNvPr id="4" name="Shape 2"/>
          <p:cNvSpPr/>
          <p:nvPr/>
        </p:nvSpPr>
        <p:spPr>
          <a:xfrm>
            <a:off x="502920" y="1417320"/>
            <a:ext cx="5486400" cy="457200"/>
          </a:xfrm>
          <a:prstGeom prst="roundRect">
            <a:avLst>
              <a:gd name="adj" fmla="val 16000"/>
            </a:avLst>
          </a:prstGeom>
          <a:solidFill>
            <a:srgbClr val="F2F5FA"/>
          </a:solidFill>
          <a:ln/>
        </p:spPr>
      </p:sp>
      <p:sp>
        <p:nvSpPr>
          <p:cNvPr id="5" name="Text 3"/>
          <p:cNvSpPr/>
          <p:nvPr/>
        </p:nvSpPr>
        <p:spPr>
          <a:xfrm>
            <a:off x="685800" y="1417320"/>
            <a:ext cx="5120640" cy="45720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AI used by attackers</a:t>
            </a:r>
            <a:endParaRPr lang="en-US" sz="1400" dirty="0"/>
          </a:p>
        </p:txBody>
      </p:sp>
      <p:sp>
        <p:nvSpPr>
          <p:cNvPr id="6" name="Text 4"/>
          <p:cNvSpPr/>
          <p:nvPr/>
        </p:nvSpPr>
        <p:spPr>
          <a:xfrm>
            <a:off x="685800" y="2011680"/>
            <a:ext cx="5212080" cy="2011680"/>
          </a:xfrm>
          <a:prstGeom prst="rect">
            <a:avLst/>
          </a:prstGeom>
          <a:noFill/>
          <a:ln/>
        </p:spPr>
        <p:txBody>
          <a:bodyPr wrap="square" lIns="0" tIns="0" rIns="0" bIns="0" rtlCol="0" anchor="t"/>
          <a:lstStyle/>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Generates convincing, personalized phishing</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Clones voices; creates fake profiles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Automates reconnaissance and malware generation</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Scales fraud and social-engineering conversations</a:t>
            </a:r>
            <a:endParaRPr lang="en-US" sz="1080" dirty="0"/>
          </a:p>
        </p:txBody>
      </p:sp>
      <p:sp>
        <p:nvSpPr>
          <p:cNvPr id="7" name="Shape 5"/>
          <p:cNvSpPr/>
          <p:nvPr/>
        </p:nvSpPr>
        <p:spPr>
          <a:xfrm>
            <a:off x="6199632" y="1417320"/>
            <a:ext cx="5486400" cy="457200"/>
          </a:xfrm>
          <a:prstGeom prst="roundRect">
            <a:avLst>
              <a:gd name="adj" fmla="val 16000"/>
            </a:avLst>
          </a:prstGeom>
          <a:solidFill>
            <a:srgbClr val="FCECEA"/>
          </a:solidFill>
          <a:ln/>
        </p:spPr>
      </p:sp>
      <p:sp>
        <p:nvSpPr>
          <p:cNvPr id="8" name="Text 6"/>
          <p:cNvSpPr/>
          <p:nvPr/>
        </p:nvSpPr>
        <p:spPr>
          <a:xfrm>
            <a:off x="6382512" y="1417320"/>
            <a:ext cx="5120640" cy="457200"/>
          </a:xfrm>
          <a:prstGeom prst="rect">
            <a:avLst/>
          </a:prstGeom>
          <a:noFill/>
          <a:ln/>
        </p:spPr>
        <p:txBody>
          <a:bodyPr wrap="square" lIns="0" tIns="0" rIns="0" bIns="0" rtlCol="0" anchor="ctr"/>
          <a:lstStyle/>
          <a:p>
            <a:pPr indent="0" marL="0">
              <a:buNone/>
            </a:pPr>
            <a:r>
              <a:rPr lang="en-US" sz="1400" b="1" dirty="0">
                <a:solidFill>
                  <a:srgbClr val="E74C3C"/>
                </a:solidFill>
                <a:latin typeface="Calibri" pitchFamily="34" charset="0"/>
                <a:ea typeface="Calibri" pitchFamily="34" charset="-122"/>
                <a:cs typeface="Calibri" pitchFamily="34" charset="-120"/>
              </a:rPr>
              <a:t>AI systems as targets</a:t>
            </a:r>
            <a:endParaRPr lang="en-US" sz="1400" dirty="0"/>
          </a:p>
        </p:txBody>
      </p:sp>
      <p:sp>
        <p:nvSpPr>
          <p:cNvPr id="9" name="Text 7"/>
          <p:cNvSpPr/>
          <p:nvPr/>
        </p:nvSpPr>
        <p:spPr>
          <a:xfrm>
            <a:off x="6382512" y="2011680"/>
            <a:ext cx="5212080" cy="2011680"/>
          </a:xfrm>
          <a:prstGeom prst="rect">
            <a:avLst/>
          </a:prstGeom>
          <a:noFill/>
          <a:ln/>
        </p:spPr>
        <p:txBody>
          <a:bodyPr wrap="square" lIns="0" tIns="0" rIns="0" bIns="0" rtlCol="0" anchor="t"/>
          <a:lstStyle/>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Prompt injection and data poisoning</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Model theft and sensitive-data leakage</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Insecure tool use; excessive agent permissions</a:t>
            </a:r>
            <a:endParaRPr lang="en-US" sz="1080" dirty="0"/>
          </a:p>
          <a:p>
            <a:pPr marL="177800" indent="-177800">
              <a:spcAft>
                <a:spcPts val="600"/>
              </a:spcAft>
              <a:buSzPct val="100000"/>
              <a:buChar char="•"/>
            </a:pPr>
            <a:r>
              <a:rPr lang="en-US" sz="1080" dirty="0">
                <a:solidFill>
                  <a:srgbClr val="1B2A4A"/>
                </a:solidFill>
                <a:latin typeface="Calibri" pitchFamily="34" charset="0"/>
                <a:ea typeface="Calibri" pitchFamily="34" charset="-122"/>
                <a:cs typeface="Calibri" pitchFamily="34" charset="-120"/>
              </a:rPr>
              <a:t>Supply-chain compromise of models &amp; plugins</a:t>
            </a:r>
            <a:endParaRPr lang="en-US" sz="1080" dirty="0"/>
          </a:p>
        </p:txBody>
      </p:sp>
      <p:sp>
        <p:nvSpPr>
          <p:cNvPr id="10" name="Shape 8"/>
          <p:cNvSpPr/>
          <p:nvPr/>
        </p:nvSpPr>
        <p:spPr>
          <a:xfrm>
            <a:off x="502920" y="4297680"/>
            <a:ext cx="11183112" cy="868680"/>
          </a:xfrm>
          <a:prstGeom prst="roundRect">
            <a:avLst>
              <a:gd name="adj" fmla="val 8421"/>
            </a:avLst>
          </a:prstGeom>
          <a:solidFill>
            <a:srgbClr val="1B2A4A"/>
          </a:solidFill>
          <a:ln/>
        </p:spPr>
      </p:sp>
      <p:sp>
        <p:nvSpPr>
          <p:cNvPr id="11" name="Text 9"/>
          <p:cNvSpPr/>
          <p:nvPr/>
        </p:nvSpPr>
        <p:spPr>
          <a:xfrm>
            <a:off x="822960" y="4297680"/>
            <a:ext cx="10543032" cy="868680"/>
          </a:xfrm>
          <a:prstGeom prst="rect">
            <a:avLst/>
          </a:prstGeom>
          <a:noFill/>
          <a:ln/>
        </p:spPr>
        <p:txBody>
          <a:bodyPr wrap="square" lIns="0" tIns="0" rIns="0" bIns="0" rtlCol="0" anchor="ctr"/>
          <a:lstStyle/>
          <a:p>
            <a:pPr algn="l" indent="0" marL="0">
              <a:lnSpc>
                <a:spcPct val="115000"/>
              </a:lnSpc>
              <a:buNone/>
            </a:pPr>
            <a:r>
              <a:rPr lang="en-US" sz="1250" i="1" dirty="0">
                <a:solidFill>
                  <a:srgbClr val="FFFFFF"/>
                </a:solidFill>
                <a:latin typeface="Cambria" pitchFamily="34" charset="0"/>
                <a:ea typeface="Cambria" pitchFamily="34" charset="-122"/>
                <a:cs typeface="Cambria" pitchFamily="34" charset="-120"/>
              </a:rPr>
              <a:t>An AI assistant connected to email, files, code, or cloud infrastructure is no longer only a chatbot; it is an identity with permissions.</a:t>
            </a:r>
            <a:endParaRPr lang="en-US" sz="1250" dirty="0"/>
          </a:p>
        </p:txBody>
      </p:sp>
      <p:sp>
        <p:nvSpPr>
          <p:cNvPr id="12" name="Shape 10"/>
          <p:cNvSpPr/>
          <p:nvPr/>
        </p:nvSpPr>
        <p:spPr>
          <a:xfrm>
            <a:off x="502920" y="5349240"/>
            <a:ext cx="11183112" cy="457200"/>
          </a:xfrm>
          <a:prstGeom prst="roundRect">
            <a:avLst>
              <a:gd name="adj" fmla="val 16000"/>
            </a:avLst>
          </a:prstGeom>
          <a:solidFill>
            <a:srgbClr val="E7F7EE"/>
          </a:solidFill>
          <a:ln/>
        </p:spPr>
      </p:sp>
      <p:sp>
        <p:nvSpPr>
          <p:cNvPr id="13" name="Text 11"/>
          <p:cNvSpPr/>
          <p:nvPr/>
        </p:nvSpPr>
        <p:spPr>
          <a:xfrm>
            <a:off x="685800" y="5349240"/>
            <a:ext cx="10817352" cy="457200"/>
          </a:xfrm>
          <a:prstGeom prst="rect">
            <a:avLst/>
          </a:prstGeom>
          <a:noFill/>
          <a:ln/>
        </p:spPr>
        <p:txBody>
          <a:bodyPr wrap="square" lIns="0" tIns="0" rIns="0" bIns="0" rtlCol="0" anchor="ctr"/>
          <a:lstStyle/>
          <a:p>
            <a:pPr indent="0" marL="0">
              <a:buNone/>
            </a:pPr>
            <a:r>
              <a:rPr lang="en-US" sz="1400" b="1" dirty="0">
                <a:solidFill>
                  <a:srgbClr val="1EA854"/>
                </a:solidFill>
                <a:latin typeface="Calibri" pitchFamily="34" charset="0"/>
                <a:ea typeface="Calibri" pitchFamily="34" charset="-122"/>
                <a:cs typeface="Calibri" pitchFamily="34" charset="-120"/>
              </a:rPr>
              <a:t>Defensive principles</a:t>
            </a:r>
            <a:endParaRPr lang="en-US" sz="1400" dirty="0"/>
          </a:p>
        </p:txBody>
      </p:sp>
      <p:sp>
        <p:nvSpPr>
          <p:cNvPr id="14" name="Text 12"/>
          <p:cNvSpPr/>
          <p:nvPr/>
        </p:nvSpPr>
        <p:spPr>
          <a:xfrm>
            <a:off x="685800" y="5852160"/>
            <a:ext cx="10789920" cy="822960"/>
          </a:xfrm>
          <a:prstGeom prst="rect">
            <a:avLst/>
          </a:prstGeom>
          <a:noFill/>
          <a:ln/>
        </p:spPr>
        <p:txBody>
          <a:bodyPr wrap="square" lIns="0" tIns="0" rIns="0" bIns="0" rtlCol="0" anchor="t"/>
          <a:lstStyle/>
          <a:p>
            <a:pPr marL="177800" indent="-177800">
              <a:buSzPct val="100000"/>
              <a:buChar char="•"/>
            </a:pPr>
            <a:r>
              <a:rPr lang="en-US" sz="1030" dirty="0">
                <a:solidFill>
                  <a:srgbClr val="1B2A4A"/>
                </a:solidFill>
                <a:latin typeface="Calibri" pitchFamily="34" charset="0"/>
                <a:ea typeface="Calibri" pitchFamily="34" charset="-122"/>
                <a:cs typeface="Calibri" pitchFamily="34" charset="-120"/>
              </a:rPr>
              <a:t>Minimum permissions; separate untrusted content from instructions; treat model output as untrusted; require approval for high-impact actions</a:t>
            </a:r>
            <a:endParaRPr lang="en-US" sz="1030" dirty="0"/>
          </a:p>
        </p:txBody>
      </p:sp>
      <p:sp>
        <p:nvSpPr>
          <p:cNvPr id="15" name="Text 13"/>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16" name="Text 14"/>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Vulnerability Exploitation — The Race Against Time</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Disclosure is no longer the end of the story.</a:t>
            </a:r>
            <a:endParaRPr lang="en-US" sz="1200" dirty="0"/>
          </a:p>
        </p:txBody>
      </p:sp>
      <p:sp>
        <p:nvSpPr>
          <p:cNvPr id="4" name="Shape 2"/>
          <p:cNvSpPr/>
          <p:nvPr/>
        </p:nvSpPr>
        <p:spPr>
          <a:xfrm>
            <a:off x="502920" y="1417320"/>
            <a:ext cx="2672334" cy="443484"/>
          </a:xfrm>
          <a:prstGeom prst="roundRect">
            <a:avLst>
              <a:gd name="adj" fmla="val 12371"/>
            </a:avLst>
          </a:prstGeom>
          <a:solidFill>
            <a:srgbClr val="F2F5FA"/>
          </a:solidFill>
          <a:ln w="9525">
            <a:solidFill>
              <a:srgbClr val="C9D4E6"/>
            </a:solidFill>
            <a:prstDash val="solid"/>
          </a:ln>
        </p:spPr>
      </p:sp>
      <p:sp>
        <p:nvSpPr>
          <p:cNvPr id="5" name="Text 3"/>
          <p:cNvSpPr/>
          <p:nvPr/>
        </p:nvSpPr>
        <p:spPr>
          <a:xfrm>
            <a:off x="594360" y="1417320"/>
            <a:ext cx="2489454" cy="443484"/>
          </a:xfrm>
          <a:prstGeom prst="rect">
            <a:avLst/>
          </a:prstGeom>
          <a:noFill/>
          <a:ln/>
        </p:spPr>
        <p:txBody>
          <a:bodyPr wrap="square" lIns="0" tIns="0" rIns="0" bIns="0" rtlCol="0" anchor="ctr"/>
          <a:lstStyle/>
          <a:p>
            <a:pPr algn="ctr" indent="0" marL="0">
              <a:lnSpc>
                <a:spcPct val="95000"/>
              </a:lnSpc>
              <a:buNone/>
            </a:pPr>
            <a:r>
              <a:rPr lang="en-US" sz="1050" b="1" dirty="0">
                <a:solidFill>
                  <a:srgbClr val="1B2A4A"/>
                </a:solidFill>
                <a:latin typeface="Calibri" pitchFamily="34" charset="0"/>
                <a:ea typeface="Calibri" pitchFamily="34" charset="-122"/>
                <a:cs typeface="Calibri" pitchFamily="34" charset="-120"/>
              </a:rPr>
              <a:t>Internet-facing VPNs</a:t>
            </a:r>
            <a:endParaRPr lang="en-US" sz="1050" dirty="0"/>
          </a:p>
        </p:txBody>
      </p:sp>
      <p:sp>
        <p:nvSpPr>
          <p:cNvPr id="6" name="Shape 4"/>
          <p:cNvSpPr/>
          <p:nvPr/>
        </p:nvSpPr>
        <p:spPr>
          <a:xfrm>
            <a:off x="3339846" y="1417320"/>
            <a:ext cx="2672334" cy="443484"/>
          </a:xfrm>
          <a:prstGeom prst="roundRect">
            <a:avLst>
              <a:gd name="adj" fmla="val 12371"/>
            </a:avLst>
          </a:prstGeom>
          <a:solidFill>
            <a:srgbClr val="F2F5FA"/>
          </a:solidFill>
          <a:ln w="9525">
            <a:solidFill>
              <a:srgbClr val="C9D4E6"/>
            </a:solidFill>
            <a:prstDash val="solid"/>
          </a:ln>
        </p:spPr>
      </p:sp>
      <p:sp>
        <p:nvSpPr>
          <p:cNvPr id="7" name="Text 5"/>
          <p:cNvSpPr/>
          <p:nvPr/>
        </p:nvSpPr>
        <p:spPr>
          <a:xfrm>
            <a:off x="3431286" y="1417320"/>
            <a:ext cx="2489454" cy="443484"/>
          </a:xfrm>
          <a:prstGeom prst="rect">
            <a:avLst/>
          </a:prstGeom>
          <a:noFill/>
          <a:ln/>
        </p:spPr>
        <p:txBody>
          <a:bodyPr wrap="square" lIns="0" tIns="0" rIns="0" bIns="0" rtlCol="0" anchor="ctr"/>
          <a:lstStyle/>
          <a:p>
            <a:pPr algn="ctr" indent="0" marL="0">
              <a:lnSpc>
                <a:spcPct val="95000"/>
              </a:lnSpc>
              <a:buNone/>
            </a:pPr>
            <a:r>
              <a:rPr lang="en-US" sz="1050" b="1" dirty="0">
                <a:solidFill>
                  <a:srgbClr val="1B2A4A"/>
                </a:solidFill>
                <a:latin typeface="Calibri" pitchFamily="34" charset="0"/>
                <a:ea typeface="Calibri" pitchFamily="34" charset="-122"/>
                <a:cs typeface="Calibri" pitchFamily="34" charset="-120"/>
              </a:rPr>
              <a:t>Firewalls &amp; edge devices</a:t>
            </a:r>
            <a:endParaRPr lang="en-US" sz="1050" dirty="0"/>
          </a:p>
        </p:txBody>
      </p:sp>
      <p:sp>
        <p:nvSpPr>
          <p:cNvPr id="8" name="Shape 6"/>
          <p:cNvSpPr/>
          <p:nvPr/>
        </p:nvSpPr>
        <p:spPr>
          <a:xfrm>
            <a:off x="6176772" y="1417320"/>
            <a:ext cx="2672334" cy="443484"/>
          </a:xfrm>
          <a:prstGeom prst="roundRect">
            <a:avLst>
              <a:gd name="adj" fmla="val 12371"/>
            </a:avLst>
          </a:prstGeom>
          <a:solidFill>
            <a:srgbClr val="F2F5FA"/>
          </a:solidFill>
          <a:ln w="9525">
            <a:solidFill>
              <a:srgbClr val="C9D4E6"/>
            </a:solidFill>
            <a:prstDash val="solid"/>
          </a:ln>
        </p:spPr>
      </p:sp>
      <p:sp>
        <p:nvSpPr>
          <p:cNvPr id="9" name="Text 7"/>
          <p:cNvSpPr/>
          <p:nvPr/>
        </p:nvSpPr>
        <p:spPr>
          <a:xfrm>
            <a:off x="6268212" y="1417320"/>
            <a:ext cx="2489454" cy="443484"/>
          </a:xfrm>
          <a:prstGeom prst="rect">
            <a:avLst/>
          </a:prstGeom>
          <a:noFill/>
          <a:ln/>
        </p:spPr>
        <p:txBody>
          <a:bodyPr wrap="square" lIns="0" tIns="0" rIns="0" bIns="0" rtlCol="0" anchor="ctr"/>
          <a:lstStyle/>
          <a:p>
            <a:pPr algn="ctr" indent="0" marL="0">
              <a:lnSpc>
                <a:spcPct val="95000"/>
              </a:lnSpc>
              <a:buNone/>
            </a:pPr>
            <a:r>
              <a:rPr lang="en-US" sz="1050" b="1" dirty="0">
                <a:solidFill>
                  <a:srgbClr val="1B2A4A"/>
                </a:solidFill>
                <a:latin typeface="Calibri" pitchFamily="34" charset="0"/>
                <a:ea typeface="Calibri" pitchFamily="34" charset="-122"/>
                <a:cs typeface="Calibri" pitchFamily="34" charset="-120"/>
              </a:rPr>
              <a:t>Remote desktop systems</a:t>
            </a:r>
            <a:endParaRPr lang="en-US" sz="1050" dirty="0"/>
          </a:p>
        </p:txBody>
      </p:sp>
      <p:sp>
        <p:nvSpPr>
          <p:cNvPr id="10" name="Shape 8"/>
          <p:cNvSpPr/>
          <p:nvPr/>
        </p:nvSpPr>
        <p:spPr>
          <a:xfrm>
            <a:off x="9013698" y="1417320"/>
            <a:ext cx="2672334" cy="443484"/>
          </a:xfrm>
          <a:prstGeom prst="roundRect">
            <a:avLst>
              <a:gd name="adj" fmla="val 12371"/>
            </a:avLst>
          </a:prstGeom>
          <a:solidFill>
            <a:srgbClr val="F2F5FA"/>
          </a:solidFill>
          <a:ln w="9525">
            <a:solidFill>
              <a:srgbClr val="C9D4E6"/>
            </a:solidFill>
            <a:prstDash val="solid"/>
          </a:ln>
        </p:spPr>
      </p:sp>
      <p:sp>
        <p:nvSpPr>
          <p:cNvPr id="11" name="Text 9"/>
          <p:cNvSpPr/>
          <p:nvPr/>
        </p:nvSpPr>
        <p:spPr>
          <a:xfrm>
            <a:off x="9105138" y="1417320"/>
            <a:ext cx="2489454" cy="443484"/>
          </a:xfrm>
          <a:prstGeom prst="rect">
            <a:avLst/>
          </a:prstGeom>
          <a:noFill/>
          <a:ln/>
        </p:spPr>
        <p:txBody>
          <a:bodyPr wrap="square" lIns="0" tIns="0" rIns="0" bIns="0" rtlCol="0" anchor="ctr"/>
          <a:lstStyle/>
          <a:p>
            <a:pPr algn="ctr" indent="0" marL="0">
              <a:lnSpc>
                <a:spcPct val="95000"/>
              </a:lnSpc>
              <a:buNone/>
            </a:pPr>
            <a:r>
              <a:rPr lang="en-US" sz="1050" b="1" dirty="0">
                <a:solidFill>
                  <a:srgbClr val="1B2A4A"/>
                </a:solidFill>
                <a:latin typeface="Calibri" pitchFamily="34" charset="0"/>
                <a:ea typeface="Calibri" pitchFamily="34" charset="-122"/>
                <a:cs typeface="Calibri" pitchFamily="34" charset="-120"/>
              </a:rPr>
              <a:t>Web applications</a:t>
            </a:r>
            <a:endParaRPr lang="en-US" sz="1050" dirty="0"/>
          </a:p>
        </p:txBody>
      </p:sp>
      <p:sp>
        <p:nvSpPr>
          <p:cNvPr id="12" name="Shape 10"/>
          <p:cNvSpPr/>
          <p:nvPr/>
        </p:nvSpPr>
        <p:spPr>
          <a:xfrm>
            <a:off x="502920" y="2025396"/>
            <a:ext cx="2672334" cy="443484"/>
          </a:xfrm>
          <a:prstGeom prst="roundRect">
            <a:avLst>
              <a:gd name="adj" fmla="val 12371"/>
            </a:avLst>
          </a:prstGeom>
          <a:solidFill>
            <a:srgbClr val="F2F5FA"/>
          </a:solidFill>
          <a:ln w="9525">
            <a:solidFill>
              <a:srgbClr val="C9D4E6"/>
            </a:solidFill>
            <a:prstDash val="solid"/>
          </a:ln>
        </p:spPr>
      </p:sp>
      <p:sp>
        <p:nvSpPr>
          <p:cNvPr id="13" name="Text 11"/>
          <p:cNvSpPr/>
          <p:nvPr/>
        </p:nvSpPr>
        <p:spPr>
          <a:xfrm>
            <a:off x="594360" y="2025396"/>
            <a:ext cx="2489454" cy="443484"/>
          </a:xfrm>
          <a:prstGeom prst="rect">
            <a:avLst/>
          </a:prstGeom>
          <a:noFill/>
          <a:ln/>
        </p:spPr>
        <p:txBody>
          <a:bodyPr wrap="square" lIns="0" tIns="0" rIns="0" bIns="0" rtlCol="0" anchor="ctr"/>
          <a:lstStyle/>
          <a:p>
            <a:pPr algn="ctr" indent="0" marL="0">
              <a:lnSpc>
                <a:spcPct val="95000"/>
              </a:lnSpc>
              <a:buNone/>
            </a:pPr>
            <a:r>
              <a:rPr lang="en-US" sz="1050" b="1" dirty="0">
                <a:solidFill>
                  <a:srgbClr val="1B2A4A"/>
                </a:solidFill>
                <a:latin typeface="Calibri" pitchFamily="34" charset="0"/>
                <a:ea typeface="Calibri" pitchFamily="34" charset="-122"/>
                <a:cs typeface="Calibri" pitchFamily="34" charset="-120"/>
              </a:rPr>
              <a:t>Virtualization platforms</a:t>
            </a:r>
            <a:endParaRPr lang="en-US" sz="1050" dirty="0"/>
          </a:p>
        </p:txBody>
      </p:sp>
      <p:sp>
        <p:nvSpPr>
          <p:cNvPr id="14" name="Shape 12"/>
          <p:cNvSpPr/>
          <p:nvPr/>
        </p:nvSpPr>
        <p:spPr>
          <a:xfrm>
            <a:off x="3339846" y="2025396"/>
            <a:ext cx="2672334" cy="443484"/>
          </a:xfrm>
          <a:prstGeom prst="roundRect">
            <a:avLst>
              <a:gd name="adj" fmla="val 12371"/>
            </a:avLst>
          </a:prstGeom>
          <a:solidFill>
            <a:srgbClr val="F2F5FA"/>
          </a:solidFill>
          <a:ln w="9525">
            <a:solidFill>
              <a:srgbClr val="C9D4E6"/>
            </a:solidFill>
            <a:prstDash val="solid"/>
          </a:ln>
        </p:spPr>
      </p:sp>
      <p:sp>
        <p:nvSpPr>
          <p:cNvPr id="15" name="Text 13"/>
          <p:cNvSpPr/>
          <p:nvPr/>
        </p:nvSpPr>
        <p:spPr>
          <a:xfrm>
            <a:off x="3431286" y="2025396"/>
            <a:ext cx="2489454" cy="443484"/>
          </a:xfrm>
          <a:prstGeom prst="rect">
            <a:avLst/>
          </a:prstGeom>
          <a:noFill/>
          <a:ln/>
        </p:spPr>
        <p:txBody>
          <a:bodyPr wrap="square" lIns="0" tIns="0" rIns="0" bIns="0" rtlCol="0" anchor="ctr"/>
          <a:lstStyle/>
          <a:p>
            <a:pPr algn="ctr" indent="0" marL="0">
              <a:lnSpc>
                <a:spcPct val="95000"/>
              </a:lnSpc>
              <a:buNone/>
            </a:pPr>
            <a:r>
              <a:rPr lang="en-US" sz="1050" b="1" dirty="0">
                <a:solidFill>
                  <a:srgbClr val="1B2A4A"/>
                </a:solidFill>
                <a:latin typeface="Calibri" pitchFamily="34" charset="0"/>
                <a:ea typeface="Calibri" pitchFamily="34" charset="-122"/>
                <a:cs typeface="Calibri" pitchFamily="34" charset="-120"/>
              </a:rPr>
              <a:t>Identity providers</a:t>
            </a:r>
            <a:endParaRPr lang="en-US" sz="1050" dirty="0"/>
          </a:p>
        </p:txBody>
      </p:sp>
      <p:sp>
        <p:nvSpPr>
          <p:cNvPr id="16" name="Shape 14"/>
          <p:cNvSpPr/>
          <p:nvPr/>
        </p:nvSpPr>
        <p:spPr>
          <a:xfrm>
            <a:off x="6176772" y="2025396"/>
            <a:ext cx="2672334" cy="443484"/>
          </a:xfrm>
          <a:prstGeom prst="roundRect">
            <a:avLst>
              <a:gd name="adj" fmla="val 12371"/>
            </a:avLst>
          </a:prstGeom>
          <a:solidFill>
            <a:srgbClr val="F2F5FA"/>
          </a:solidFill>
          <a:ln w="9525">
            <a:solidFill>
              <a:srgbClr val="C9D4E6"/>
            </a:solidFill>
            <a:prstDash val="solid"/>
          </a:ln>
        </p:spPr>
      </p:sp>
      <p:sp>
        <p:nvSpPr>
          <p:cNvPr id="17" name="Text 15"/>
          <p:cNvSpPr/>
          <p:nvPr/>
        </p:nvSpPr>
        <p:spPr>
          <a:xfrm>
            <a:off x="6268212" y="2025396"/>
            <a:ext cx="2489454" cy="443484"/>
          </a:xfrm>
          <a:prstGeom prst="rect">
            <a:avLst/>
          </a:prstGeom>
          <a:noFill/>
          <a:ln/>
        </p:spPr>
        <p:txBody>
          <a:bodyPr wrap="square" lIns="0" tIns="0" rIns="0" bIns="0" rtlCol="0" anchor="ctr"/>
          <a:lstStyle/>
          <a:p>
            <a:pPr algn="ctr" indent="0" marL="0">
              <a:lnSpc>
                <a:spcPct val="95000"/>
              </a:lnSpc>
              <a:buNone/>
            </a:pPr>
            <a:r>
              <a:rPr lang="en-US" sz="1050" b="1" dirty="0">
                <a:solidFill>
                  <a:srgbClr val="1B2A4A"/>
                </a:solidFill>
                <a:latin typeface="Calibri" pitchFamily="34" charset="0"/>
                <a:ea typeface="Calibri" pitchFamily="34" charset="-122"/>
                <a:cs typeface="Calibri" pitchFamily="34" charset="-120"/>
              </a:rPr>
              <a:t>Network-management systems</a:t>
            </a:r>
            <a:endParaRPr lang="en-US" sz="1050" dirty="0"/>
          </a:p>
        </p:txBody>
      </p:sp>
      <p:sp>
        <p:nvSpPr>
          <p:cNvPr id="18" name="Shape 16"/>
          <p:cNvSpPr/>
          <p:nvPr/>
        </p:nvSpPr>
        <p:spPr>
          <a:xfrm>
            <a:off x="9013698" y="2025396"/>
            <a:ext cx="2672334" cy="443484"/>
          </a:xfrm>
          <a:prstGeom prst="roundRect">
            <a:avLst>
              <a:gd name="adj" fmla="val 12371"/>
            </a:avLst>
          </a:prstGeom>
          <a:solidFill>
            <a:srgbClr val="F2F5FA"/>
          </a:solidFill>
          <a:ln w="9525">
            <a:solidFill>
              <a:srgbClr val="C9D4E6"/>
            </a:solidFill>
            <a:prstDash val="solid"/>
          </a:ln>
        </p:spPr>
      </p:sp>
      <p:sp>
        <p:nvSpPr>
          <p:cNvPr id="19" name="Text 17"/>
          <p:cNvSpPr/>
          <p:nvPr/>
        </p:nvSpPr>
        <p:spPr>
          <a:xfrm>
            <a:off x="9105138" y="2025396"/>
            <a:ext cx="2489454" cy="443484"/>
          </a:xfrm>
          <a:prstGeom prst="rect">
            <a:avLst/>
          </a:prstGeom>
          <a:noFill/>
          <a:ln/>
        </p:spPr>
        <p:txBody>
          <a:bodyPr wrap="square" lIns="0" tIns="0" rIns="0" bIns="0" rtlCol="0" anchor="ctr"/>
          <a:lstStyle/>
          <a:p>
            <a:pPr algn="ctr" indent="0" marL="0">
              <a:lnSpc>
                <a:spcPct val="95000"/>
              </a:lnSpc>
              <a:buNone/>
            </a:pPr>
            <a:r>
              <a:rPr lang="en-US" sz="1050" b="1" dirty="0">
                <a:solidFill>
                  <a:srgbClr val="1B2A4A"/>
                </a:solidFill>
                <a:latin typeface="Calibri" pitchFamily="34" charset="0"/>
                <a:ea typeface="Calibri" pitchFamily="34" charset="-122"/>
                <a:cs typeface="Calibri" pitchFamily="34" charset="-120"/>
              </a:rPr>
              <a:t>File-transfer appliances</a:t>
            </a:r>
            <a:endParaRPr lang="en-US" sz="1050" dirty="0"/>
          </a:p>
        </p:txBody>
      </p:sp>
      <p:sp>
        <p:nvSpPr>
          <p:cNvPr id="20" name="Shape 18"/>
          <p:cNvSpPr/>
          <p:nvPr/>
        </p:nvSpPr>
        <p:spPr>
          <a:xfrm>
            <a:off x="502920" y="2697480"/>
            <a:ext cx="11183112" cy="868680"/>
          </a:xfrm>
          <a:prstGeom prst="roundRect">
            <a:avLst>
              <a:gd name="adj" fmla="val 8421"/>
            </a:avLst>
          </a:prstGeom>
          <a:solidFill>
            <a:srgbClr val="1B2A4A"/>
          </a:solidFill>
          <a:ln/>
        </p:spPr>
      </p:sp>
      <p:sp>
        <p:nvSpPr>
          <p:cNvPr id="21" name="Text 19"/>
          <p:cNvSpPr/>
          <p:nvPr/>
        </p:nvSpPr>
        <p:spPr>
          <a:xfrm>
            <a:off x="822960" y="2697480"/>
            <a:ext cx="10543032" cy="868680"/>
          </a:xfrm>
          <a:prstGeom prst="rect">
            <a:avLst/>
          </a:prstGeom>
          <a:noFill/>
          <a:ln/>
        </p:spPr>
        <p:txBody>
          <a:bodyPr wrap="square" lIns="0" tIns="0" rIns="0" bIns="0" rtlCol="0" anchor="ctr"/>
          <a:lstStyle/>
          <a:p>
            <a:pPr algn="l" indent="0" marL="0">
              <a:lnSpc>
                <a:spcPct val="115000"/>
              </a:lnSpc>
              <a:buNone/>
            </a:pPr>
            <a:r>
              <a:rPr lang="en-US" sz="1250" i="1" dirty="0">
                <a:solidFill>
                  <a:srgbClr val="FFFFFF"/>
                </a:solidFill>
                <a:latin typeface="Cambria" pitchFamily="34" charset="0"/>
                <a:ea typeface="Cambria" pitchFamily="34" charset="-122"/>
                <a:cs typeface="Cambria" pitchFamily="34" charset="-120"/>
              </a:rPr>
              <a:t>Disclosure is no longer the end of the vulnerability lifecycle. It may be the beginning of a race between defenders patching and attackers weaponizing the flaw.</a:t>
            </a:r>
            <a:endParaRPr lang="en-US" sz="1250" dirty="0"/>
          </a:p>
        </p:txBody>
      </p:sp>
      <p:sp>
        <p:nvSpPr>
          <p:cNvPr id="22" name="Shape 20"/>
          <p:cNvSpPr/>
          <p:nvPr/>
        </p:nvSpPr>
        <p:spPr>
          <a:xfrm>
            <a:off x="502920" y="3794760"/>
            <a:ext cx="11183112" cy="457200"/>
          </a:xfrm>
          <a:prstGeom prst="roundRect">
            <a:avLst>
              <a:gd name="adj" fmla="val 16000"/>
            </a:avLst>
          </a:prstGeom>
          <a:solidFill>
            <a:srgbClr val="E7F7EE"/>
          </a:solidFill>
          <a:ln/>
        </p:spPr>
      </p:sp>
      <p:sp>
        <p:nvSpPr>
          <p:cNvPr id="23" name="Text 21"/>
          <p:cNvSpPr/>
          <p:nvPr/>
        </p:nvSpPr>
        <p:spPr>
          <a:xfrm>
            <a:off x="685800" y="3794760"/>
            <a:ext cx="10817352" cy="457200"/>
          </a:xfrm>
          <a:prstGeom prst="rect">
            <a:avLst/>
          </a:prstGeom>
          <a:noFill/>
          <a:ln/>
        </p:spPr>
        <p:txBody>
          <a:bodyPr wrap="square" lIns="0" tIns="0" rIns="0" bIns="0" rtlCol="0" anchor="ctr"/>
          <a:lstStyle/>
          <a:p>
            <a:pPr indent="0" marL="0">
              <a:buNone/>
            </a:pPr>
            <a:r>
              <a:rPr lang="en-US" sz="1400" b="1" dirty="0">
                <a:solidFill>
                  <a:srgbClr val="1EA854"/>
                </a:solidFill>
                <a:latin typeface="Calibri" pitchFamily="34" charset="0"/>
                <a:ea typeface="Calibri" pitchFamily="34" charset="-122"/>
                <a:cs typeface="Calibri" pitchFamily="34" charset="-120"/>
              </a:rPr>
              <a:t>Defense</a:t>
            </a:r>
            <a:endParaRPr lang="en-US" sz="1400" dirty="0"/>
          </a:p>
        </p:txBody>
      </p:sp>
      <p:sp>
        <p:nvSpPr>
          <p:cNvPr id="24" name="Text 22"/>
          <p:cNvSpPr/>
          <p:nvPr/>
        </p:nvSpPr>
        <p:spPr>
          <a:xfrm>
            <a:off x="685800" y="4343400"/>
            <a:ext cx="10789920" cy="20116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Maintain an accurate, internet-facing-first asset inventory</a:t>
            </a:r>
            <a:endParaRPr lang="en-US" sz="1100" dirty="0"/>
          </a:p>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Track exploited vulnerabilities, not only high CVSS scores</a:t>
            </a:r>
            <a:endParaRPr lang="en-US" sz="1100" dirty="0"/>
          </a:p>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Patch or mitigate quickly; remove exposed management interfaces</a:t>
            </a:r>
            <a:endParaRPr lang="en-US" sz="1100" dirty="0"/>
          </a:p>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Use virtual patching or WAF rules when a fix isn't ready yet</a:t>
            </a:r>
            <a:endParaRPr lang="en-US" sz="1100" dirty="0"/>
          </a:p>
          <a:p>
            <a:pPr marL="177800" indent="-177800">
              <a:spcAft>
                <a:spcPts val="600"/>
              </a:spcAft>
              <a:buSzPct val="100000"/>
              <a:buChar char="•"/>
            </a:pPr>
            <a:r>
              <a:rPr lang="en-US" sz="1100" dirty="0">
                <a:solidFill>
                  <a:srgbClr val="1B2A4A"/>
                </a:solidFill>
                <a:latin typeface="Calibri" pitchFamily="34" charset="0"/>
                <a:ea typeface="Calibri" pitchFamily="34" charset="-122"/>
                <a:cs typeface="Calibri" pitchFamily="34" charset="-120"/>
              </a:rPr>
              <a:t>Monitor exploitation attempts; keep emergency change procedures</a:t>
            </a:r>
            <a:endParaRPr lang="en-US" sz="1100" dirty="0"/>
          </a:p>
        </p:txBody>
      </p:sp>
      <p:sp>
        <p:nvSpPr>
          <p:cNvPr id="25" name="Text 23"/>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26" name="Text 24"/>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Layered Defenses for the Modern Era</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Strong passwords, updates, MFA, and backups are the floor, not the ceiling.</a:t>
            </a:r>
            <a:endParaRPr lang="en-US" sz="1200" dirty="0"/>
          </a:p>
        </p:txBody>
      </p:sp>
      <p:sp>
        <p:nvSpPr>
          <p:cNvPr id="4" name="Shape 2"/>
          <p:cNvSpPr/>
          <p:nvPr/>
        </p:nvSpPr>
        <p:spPr>
          <a:xfrm>
            <a:off x="502920" y="1417320"/>
            <a:ext cx="2090318" cy="3794760"/>
          </a:xfrm>
          <a:prstGeom prst="roundRect">
            <a:avLst>
              <a:gd name="adj" fmla="val 3500"/>
            </a:avLst>
          </a:prstGeom>
          <a:solidFill>
            <a:srgbClr val="1B2A4A"/>
          </a:solidFill>
          <a:ln/>
        </p:spPr>
      </p:sp>
      <p:sp>
        <p:nvSpPr>
          <p:cNvPr id="5" name="Text 3"/>
          <p:cNvSpPr/>
          <p:nvPr/>
        </p:nvSpPr>
        <p:spPr>
          <a:xfrm>
            <a:off x="640080" y="1581912"/>
            <a:ext cx="1815998" cy="41148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Identity</a:t>
            </a:r>
            <a:endParaRPr lang="en-US" sz="1300" dirty="0"/>
          </a:p>
        </p:txBody>
      </p:sp>
      <p:sp>
        <p:nvSpPr>
          <p:cNvPr id="6" name="Text 4"/>
          <p:cNvSpPr/>
          <p:nvPr/>
        </p:nvSpPr>
        <p:spPr>
          <a:xfrm>
            <a:off x="640080" y="2039112"/>
            <a:ext cx="1815998" cy="3017520"/>
          </a:xfrm>
          <a:prstGeom prst="rect">
            <a:avLst/>
          </a:prstGeom>
          <a:noFill/>
          <a:ln/>
        </p:spPr>
        <p:txBody>
          <a:bodyPr wrap="square" lIns="0" tIns="0" rIns="0" bIns="0" rtlCol="0" anchor="t"/>
          <a:lstStyle/>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Phishing-resistant MFA</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Least privilege / PAM</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Conditional access</a:t>
            </a:r>
            <a:endParaRPr lang="en-US" sz="930" dirty="0"/>
          </a:p>
        </p:txBody>
      </p:sp>
      <p:sp>
        <p:nvSpPr>
          <p:cNvPr id="7" name="Shape 5"/>
          <p:cNvSpPr/>
          <p:nvPr/>
        </p:nvSpPr>
        <p:spPr>
          <a:xfrm>
            <a:off x="2776118" y="1417320"/>
            <a:ext cx="2090318" cy="3794760"/>
          </a:xfrm>
          <a:prstGeom prst="roundRect">
            <a:avLst>
              <a:gd name="adj" fmla="val 3500"/>
            </a:avLst>
          </a:prstGeom>
          <a:solidFill>
            <a:srgbClr val="1B2A4A"/>
          </a:solidFill>
          <a:ln/>
        </p:spPr>
      </p:sp>
      <p:sp>
        <p:nvSpPr>
          <p:cNvPr id="8" name="Text 6"/>
          <p:cNvSpPr/>
          <p:nvPr/>
        </p:nvSpPr>
        <p:spPr>
          <a:xfrm>
            <a:off x="2913278" y="1581912"/>
            <a:ext cx="1815998" cy="41148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Endpoint</a:t>
            </a:r>
            <a:endParaRPr lang="en-US" sz="1300" dirty="0"/>
          </a:p>
        </p:txBody>
      </p:sp>
      <p:sp>
        <p:nvSpPr>
          <p:cNvPr id="9" name="Text 7"/>
          <p:cNvSpPr/>
          <p:nvPr/>
        </p:nvSpPr>
        <p:spPr>
          <a:xfrm>
            <a:off x="2913278" y="2039112"/>
            <a:ext cx="1815998" cy="3017520"/>
          </a:xfrm>
          <a:prstGeom prst="rect">
            <a:avLst/>
          </a:prstGeom>
          <a:noFill/>
          <a:ln/>
        </p:spPr>
        <p:txBody>
          <a:bodyPr wrap="square" lIns="0" tIns="0" rIns="0" bIns="0" rtlCol="0" anchor="t"/>
          <a:lstStyle/>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EDR / host monitoring</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Application control</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Script &amp; macro limits</a:t>
            </a:r>
            <a:endParaRPr lang="en-US" sz="930" dirty="0"/>
          </a:p>
        </p:txBody>
      </p:sp>
      <p:sp>
        <p:nvSpPr>
          <p:cNvPr id="10" name="Shape 8"/>
          <p:cNvSpPr/>
          <p:nvPr/>
        </p:nvSpPr>
        <p:spPr>
          <a:xfrm>
            <a:off x="5049317" y="1417320"/>
            <a:ext cx="2090318" cy="3794760"/>
          </a:xfrm>
          <a:prstGeom prst="roundRect">
            <a:avLst>
              <a:gd name="adj" fmla="val 3500"/>
            </a:avLst>
          </a:prstGeom>
          <a:solidFill>
            <a:srgbClr val="1B2A4A"/>
          </a:solidFill>
          <a:ln/>
        </p:spPr>
      </p:sp>
      <p:sp>
        <p:nvSpPr>
          <p:cNvPr id="11" name="Text 9"/>
          <p:cNvSpPr/>
          <p:nvPr/>
        </p:nvSpPr>
        <p:spPr>
          <a:xfrm>
            <a:off x="5186477" y="1581912"/>
            <a:ext cx="1815998" cy="41148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Network</a:t>
            </a:r>
            <a:endParaRPr lang="en-US" sz="1300" dirty="0"/>
          </a:p>
        </p:txBody>
      </p:sp>
      <p:sp>
        <p:nvSpPr>
          <p:cNvPr id="12" name="Text 10"/>
          <p:cNvSpPr/>
          <p:nvPr/>
        </p:nvSpPr>
        <p:spPr>
          <a:xfrm>
            <a:off x="5186477" y="2039112"/>
            <a:ext cx="1815998" cy="3017520"/>
          </a:xfrm>
          <a:prstGeom prst="rect">
            <a:avLst/>
          </a:prstGeom>
          <a:noFill/>
          <a:ln/>
        </p:spPr>
        <p:txBody>
          <a:bodyPr wrap="square" lIns="0" tIns="0" rIns="0" bIns="0" rtlCol="0" anchor="t"/>
          <a:lstStyle/>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Segmentation, zero trust</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Restricted mgmt access</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Egress &amp; DNS filtering</a:t>
            </a:r>
            <a:endParaRPr lang="en-US" sz="930" dirty="0"/>
          </a:p>
        </p:txBody>
      </p:sp>
      <p:sp>
        <p:nvSpPr>
          <p:cNvPr id="13" name="Shape 11"/>
          <p:cNvSpPr/>
          <p:nvPr/>
        </p:nvSpPr>
        <p:spPr>
          <a:xfrm>
            <a:off x="7322515" y="1417320"/>
            <a:ext cx="2090318" cy="3794760"/>
          </a:xfrm>
          <a:prstGeom prst="roundRect">
            <a:avLst>
              <a:gd name="adj" fmla="val 3500"/>
            </a:avLst>
          </a:prstGeom>
          <a:solidFill>
            <a:srgbClr val="1B2A4A"/>
          </a:solidFill>
          <a:ln/>
        </p:spPr>
      </p:sp>
      <p:sp>
        <p:nvSpPr>
          <p:cNvPr id="14" name="Text 12"/>
          <p:cNvSpPr/>
          <p:nvPr/>
        </p:nvSpPr>
        <p:spPr>
          <a:xfrm>
            <a:off x="7459675" y="1581912"/>
            <a:ext cx="1815998" cy="41148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Cloud &amp; apps</a:t>
            </a:r>
            <a:endParaRPr lang="en-US" sz="1300" dirty="0"/>
          </a:p>
        </p:txBody>
      </p:sp>
      <p:sp>
        <p:nvSpPr>
          <p:cNvPr id="15" name="Text 13"/>
          <p:cNvSpPr/>
          <p:nvPr/>
        </p:nvSpPr>
        <p:spPr>
          <a:xfrm>
            <a:off x="7459675" y="2039112"/>
            <a:ext cx="1815998" cy="3017520"/>
          </a:xfrm>
          <a:prstGeom prst="rect">
            <a:avLst/>
          </a:prstGeom>
          <a:noFill/>
          <a:ln/>
        </p:spPr>
        <p:txBody>
          <a:bodyPr wrap="square" lIns="0" tIns="0" rIns="0" bIns="0" rtlCol="0" anchor="t"/>
          <a:lstStyle/>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Secure config baselines</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Secrets management</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Dependency scanning</a:t>
            </a:r>
            <a:endParaRPr lang="en-US" sz="930" dirty="0"/>
          </a:p>
        </p:txBody>
      </p:sp>
      <p:sp>
        <p:nvSpPr>
          <p:cNvPr id="16" name="Shape 14"/>
          <p:cNvSpPr/>
          <p:nvPr/>
        </p:nvSpPr>
        <p:spPr>
          <a:xfrm>
            <a:off x="9595714" y="1417320"/>
            <a:ext cx="2090318" cy="3794760"/>
          </a:xfrm>
          <a:prstGeom prst="roundRect">
            <a:avLst>
              <a:gd name="adj" fmla="val 3500"/>
            </a:avLst>
          </a:prstGeom>
          <a:solidFill>
            <a:srgbClr val="1B2A4A"/>
          </a:solidFill>
          <a:ln/>
        </p:spPr>
      </p:sp>
      <p:sp>
        <p:nvSpPr>
          <p:cNvPr id="17" name="Text 15"/>
          <p:cNvSpPr/>
          <p:nvPr/>
        </p:nvSpPr>
        <p:spPr>
          <a:xfrm>
            <a:off x="9732874" y="1581912"/>
            <a:ext cx="1815998" cy="411480"/>
          </a:xfrm>
          <a:prstGeom prst="rect">
            <a:avLst/>
          </a:prstGeom>
          <a:noFill/>
          <a:ln/>
        </p:spPr>
        <p:txBody>
          <a:bodyPr wrap="square" lIns="0" tIns="0" rIns="0" bIns="0" rtlCol="0" anchor="ctr"/>
          <a:lstStyle/>
          <a:p>
            <a:pPr indent="0" marL="0">
              <a:buNone/>
            </a:pPr>
            <a:r>
              <a:rPr lang="en-US" sz="1300" b="1" dirty="0">
                <a:solidFill>
                  <a:srgbClr val="2ECC71"/>
                </a:solidFill>
                <a:latin typeface="Calibri" pitchFamily="34" charset="0"/>
                <a:ea typeface="Calibri" pitchFamily="34" charset="-122"/>
                <a:cs typeface="Calibri" pitchFamily="34" charset="-120"/>
              </a:rPr>
              <a:t>Recovery</a:t>
            </a:r>
            <a:endParaRPr lang="en-US" sz="1300" dirty="0"/>
          </a:p>
        </p:txBody>
      </p:sp>
      <p:sp>
        <p:nvSpPr>
          <p:cNvPr id="18" name="Text 16"/>
          <p:cNvSpPr/>
          <p:nvPr/>
        </p:nvSpPr>
        <p:spPr>
          <a:xfrm>
            <a:off x="9732874" y="2039112"/>
            <a:ext cx="1815998" cy="3017520"/>
          </a:xfrm>
          <a:prstGeom prst="rect">
            <a:avLst/>
          </a:prstGeom>
          <a:noFill/>
          <a:ln/>
        </p:spPr>
        <p:txBody>
          <a:bodyPr wrap="square" lIns="0" tIns="0" rIns="0" bIns="0" rtlCol="0" anchor="t"/>
          <a:lstStyle/>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Offline / immutable backups</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Tested restoration</a:t>
            </a:r>
            <a:endParaRPr lang="en-US" sz="930" dirty="0"/>
          </a:p>
          <a:p>
            <a:pPr marL="127000" indent="-127000">
              <a:lnSpc>
                <a:spcPct val="105000"/>
              </a:lnSpc>
              <a:spcAft>
                <a:spcPts val="1000"/>
              </a:spcAft>
              <a:buSzPct val="100000"/>
              <a:buChar char="•"/>
            </a:pPr>
            <a:r>
              <a:rPr lang="en-US" sz="930" dirty="0">
                <a:solidFill>
                  <a:srgbClr val="FFFFFF"/>
                </a:solidFill>
                <a:latin typeface="Calibri" pitchFamily="34" charset="0"/>
                <a:ea typeface="Calibri" pitchFamily="34" charset="-122"/>
                <a:cs typeface="Calibri" pitchFamily="34" charset="-120"/>
              </a:rPr>
              <a:t>Incident-response plans</a:t>
            </a:r>
            <a:endParaRPr lang="en-US" sz="930" dirty="0"/>
          </a:p>
        </p:txBody>
      </p:sp>
      <p:sp>
        <p:nvSpPr>
          <p:cNvPr id="19" name="Shape 17"/>
          <p:cNvSpPr/>
          <p:nvPr/>
        </p:nvSpPr>
        <p:spPr>
          <a:xfrm>
            <a:off x="502920" y="5394960"/>
            <a:ext cx="11183112" cy="777240"/>
          </a:xfrm>
          <a:prstGeom prst="roundRect">
            <a:avLst>
              <a:gd name="adj" fmla="val 9412"/>
            </a:avLst>
          </a:prstGeom>
          <a:solidFill>
            <a:srgbClr val="F2F5FA"/>
          </a:solidFill>
          <a:ln/>
        </p:spPr>
      </p:sp>
      <p:sp>
        <p:nvSpPr>
          <p:cNvPr id="20" name="Text 18"/>
          <p:cNvSpPr/>
          <p:nvPr/>
        </p:nvSpPr>
        <p:spPr>
          <a:xfrm>
            <a:off x="822960" y="5394960"/>
            <a:ext cx="10543032" cy="777240"/>
          </a:xfrm>
          <a:prstGeom prst="rect">
            <a:avLst/>
          </a:prstGeom>
          <a:noFill/>
          <a:ln/>
        </p:spPr>
        <p:txBody>
          <a:bodyPr wrap="square" lIns="0" tIns="0" rIns="0" bIns="0" rtlCol="0" anchor="ctr"/>
          <a:lstStyle/>
          <a:p>
            <a:pPr algn="l" indent="0" marL="0">
              <a:lnSpc>
                <a:spcPct val="115000"/>
              </a:lnSpc>
              <a:buNone/>
            </a:pPr>
            <a:r>
              <a:rPr lang="en-US" sz="1250" i="1" dirty="0">
                <a:solidFill>
                  <a:srgbClr val="1B2A4A"/>
                </a:solidFill>
                <a:latin typeface="Cambria" pitchFamily="34" charset="0"/>
                <a:ea typeface="Cambria" pitchFamily="34" charset="-122"/>
                <a:cs typeface="Cambria" pitchFamily="34" charset="-120"/>
              </a:rPr>
              <a:t>A backup that has never been restored is an assumption, not a recovery strategy.</a:t>
            </a:r>
            <a:endParaRPr lang="en-US" sz="1250" dirty="0"/>
          </a:p>
        </p:txBody>
      </p:sp>
      <p:sp>
        <p:nvSpPr>
          <p:cNvPr id="21" name="Text 19"/>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22" name="Text 20"/>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Tools &amp; Playgrounds</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The tool is not the skill — know what it observes, and whether the test is authorized.</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577840" cy="3291840"/>
        </p:xfrm>
        <a:graphic>
          <a:graphicData uri="http://schemas.openxmlformats.org/drawingml/2006/table">
            <a:tbl>
              <a:tblPr/>
              <a:tblGrid>
                <a:gridCol w="2377440"/>
                <a:gridCol w="3200400"/>
              </a:tblGrid>
              <a:tr h="411480">
                <a:tc>
                  <a:txBody>
                    <a:bodyPr/>
                    <a:lstStyle/>
                    <a:p>
                      <a:pPr indent="0" marL="0">
                        <a:buNone/>
                      </a:pPr>
                      <a:r>
                        <a:rPr lang="en-US" sz="1050" b="1" dirty="0">
                          <a:solidFill>
                            <a:srgbClr val="1B2A4A"/>
                          </a:solidFill>
                        </a:rPr>
                        <a:t>Network analysis</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2F5FA"/>
                    </a:solidFill>
                  </a:tcPr>
                </a:tc>
                <a:tc>
                  <a:txBody>
                    <a:bodyPr/>
                    <a:lstStyle/>
                    <a:p>
                      <a:pPr indent="0" marL="0">
                        <a:buNone/>
                      </a:pPr>
                      <a:r>
                        <a:rPr lang="en-US" sz="1050" dirty="0">
                          <a:solidFill>
                            <a:srgbClr val="5A6472"/>
                          </a:solidFill>
                        </a:rPr>
                        <a:t>Wireshark, tcpdump</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B2A4A"/>
                          </a:solidFill>
                        </a:rPr>
                        <a:t>Enumeration</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2F5FA"/>
                    </a:solidFill>
                  </a:tcPr>
                </a:tc>
                <a:tc>
                  <a:txBody>
                    <a:bodyPr/>
                    <a:lstStyle/>
                    <a:p>
                      <a:pPr indent="0" marL="0">
                        <a:buNone/>
                      </a:pPr>
                      <a:r>
                        <a:rPr lang="en-US" sz="1050" dirty="0">
                          <a:solidFill>
                            <a:srgbClr val="5A6472"/>
                          </a:solidFill>
                        </a:rPr>
                        <a:t>Nmap, Amass</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B2A4A"/>
                          </a:solidFill>
                        </a:rPr>
                        <a:t>Web security</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2F5FA"/>
                    </a:solidFill>
                  </a:tcPr>
                </a:tc>
                <a:tc>
                  <a:txBody>
                    <a:bodyPr/>
                    <a:lstStyle/>
                    <a:p>
                      <a:pPr indent="0" marL="0">
                        <a:buNone/>
                      </a:pPr>
                      <a:r>
                        <a:rPr lang="en-US" sz="1050" dirty="0">
                          <a:solidFill>
                            <a:srgbClr val="5A6472"/>
                          </a:solidFill>
                        </a:rPr>
                        <a:t>Burp Suite, OWASP ZAP</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B2A4A"/>
                          </a:solidFill>
                        </a:rPr>
                        <a:t>Digital forensics</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2F5FA"/>
                    </a:solidFill>
                  </a:tcPr>
                </a:tc>
                <a:tc>
                  <a:txBody>
                    <a:bodyPr/>
                    <a:lstStyle/>
                    <a:p>
                      <a:pPr indent="0" marL="0">
                        <a:buNone/>
                      </a:pPr>
                      <a:r>
                        <a:rPr lang="en-US" sz="1050" dirty="0">
                          <a:solidFill>
                            <a:srgbClr val="5A6472"/>
                          </a:solidFill>
                        </a:rPr>
                        <a:t>Autopsy, Volatility</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B2A4A"/>
                          </a:solidFill>
                        </a:rPr>
                        <a:t>Detection engineering</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2F5FA"/>
                    </a:solidFill>
                  </a:tcPr>
                </a:tc>
                <a:tc>
                  <a:txBody>
                    <a:bodyPr/>
                    <a:lstStyle/>
                    <a:p>
                      <a:pPr indent="0" marL="0">
                        <a:buNone/>
                      </a:pPr>
                      <a:r>
                        <a:rPr lang="en-US" sz="1050" dirty="0">
                          <a:solidFill>
                            <a:srgbClr val="5A6472"/>
                          </a:solidFill>
                        </a:rPr>
                        <a:t>Sigma, YARA, Zeek</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B2A4A"/>
                          </a:solidFill>
                        </a:rPr>
                        <a:t>Cloud security</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2F5FA"/>
                    </a:solidFill>
                  </a:tcPr>
                </a:tc>
                <a:tc>
                  <a:txBody>
                    <a:bodyPr/>
                    <a:lstStyle/>
                    <a:p>
                      <a:pPr indent="0" marL="0">
                        <a:buNone/>
                      </a:pPr>
                      <a:r>
                        <a:rPr lang="en-US" sz="1050" dirty="0">
                          <a:solidFill>
                            <a:srgbClr val="5A6472"/>
                          </a:solidFill>
                        </a:rPr>
                        <a:t>ScoutSuite, Prowler</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B2A4A"/>
                          </a:solidFill>
                        </a:rPr>
                        <a:t>Container security</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2F5FA"/>
                    </a:solidFill>
                  </a:tcPr>
                </a:tc>
                <a:tc>
                  <a:txBody>
                    <a:bodyPr/>
                    <a:lstStyle/>
                    <a:p>
                      <a:pPr indent="0" marL="0">
                        <a:buNone/>
                      </a:pPr>
                      <a:r>
                        <a:rPr lang="en-US" sz="1050" dirty="0">
                          <a:solidFill>
                            <a:srgbClr val="5A6472"/>
                          </a:solidFill>
                        </a:rPr>
                        <a:t>Trivy, kube-bench</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B2A4A"/>
                          </a:solidFill>
                        </a:rPr>
                        <a:t>Identity security</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2F5FA"/>
                    </a:solidFill>
                  </a:tcPr>
                </a:tc>
                <a:tc>
                  <a:txBody>
                    <a:bodyPr/>
                    <a:lstStyle/>
                    <a:p>
                      <a:pPr indent="0" marL="0">
                        <a:buNone/>
                      </a:pPr>
                      <a:r>
                        <a:rPr lang="en-US" sz="1050" dirty="0">
                          <a:solidFill>
                            <a:srgbClr val="5A6472"/>
                          </a:solidFill>
                        </a:rPr>
                        <a:t>BloodHound — authorized lab only</a:t>
                      </a:r>
                      <a:endParaRPr lang="en-US" sz="1050" dirty="0"/>
                    </a:p>
                  </a:txBody>
                  <a:tcPr marL="91440" marR="91440" marT="45720" marB="45720" anchor="ctr">
                    <a:lnL w="9525" cap="flat" cmpd="sng" algn="ctr">
                      <a:solidFill>
                        <a:srgbClr val="C9D4E6"/>
                      </a:solidFill>
                      <a:prstDash val="solid"/>
                      <a:round/>
                      <a:headEnd type="none" w="med" len="med"/>
                      <a:tailEnd type="none" w="med" len="med"/>
                    </a:lnL>
                    <a:lnR w="9525" cap="flat" cmpd="sng" algn="ctr">
                      <a:solidFill>
                        <a:srgbClr val="C9D4E6"/>
                      </a:solidFill>
                      <a:prstDash val="solid"/>
                      <a:round/>
                      <a:headEnd type="none" w="med" len="med"/>
                      <a:tailEnd type="none" w="med" len="med"/>
                    </a:lnR>
                    <a:lnT w="9525" cap="flat" cmpd="sng" algn="ctr">
                      <a:solidFill>
                        <a:srgbClr val="C9D4E6"/>
                      </a:solidFill>
                      <a:prstDash val="solid"/>
                      <a:round/>
                      <a:headEnd type="none" w="med" len="med"/>
                      <a:tailEnd type="none" w="med" len="med"/>
                    </a:lnT>
                    <a:lnB w="9525" cap="flat" cmpd="sng" algn="ctr">
                      <a:solidFill>
                        <a:srgbClr val="C9D4E6"/>
                      </a:solidFill>
                      <a:prstDash val="solid"/>
                      <a:round/>
                      <a:headEnd type="none" w="med" len="med"/>
                      <a:tailEnd type="none" w="med" len="med"/>
                    </a:lnB>
                    <a:solidFill>
                      <a:srgbClr val="FFFFFF"/>
                    </a:solidFill>
                  </a:tcPr>
                </a:tc>
              </a:tr>
            </a:tbl>
          </a:graphicData>
        </a:graphic>
      </p:graphicFrame>
      <p:sp>
        <p:nvSpPr>
          <p:cNvPr id="5" name="Shape 2"/>
          <p:cNvSpPr/>
          <p:nvPr/>
        </p:nvSpPr>
        <p:spPr>
          <a:xfrm>
            <a:off x="6382512" y="1417320"/>
            <a:ext cx="5303520" cy="457200"/>
          </a:xfrm>
          <a:prstGeom prst="roundRect">
            <a:avLst>
              <a:gd name="adj" fmla="val 16000"/>
            </a:avLst>
          </a:prstGeom>
          <a:solidFill>
            <a:srgbClr val="F2F5FA"/>
          </a:solidFill>
          <a:ln/>
        </p:spPr>
      </p:sp>
      <p:sp>
        <p:nvSpPr>
          <p:cNvPr id="6" name="Text 3"/>
          <p:cNvSpPr/>
          <p:nvPr/>
        </p:nvSpPr>
        <p:spPr>
          <a:xfrm>
            <a:off x="6565392" y="1417320"/>
            <a:ext cx="4937760" cy="45720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Practice environments</a:t>
            </a:r>
            <a:endParaRPr lang="en-US" sz="1400" dirty="0"/>
          </a:p>
        </p:txBody>
      </p:sp>
      <p:sp>
        <p:nvSpPr>
          <p:cNvPr id="7" name="Text 4"/>
          <p:cNvSpPr/>
          <p:nvPr/>
        </p:nvSpPr>
        <p:spPr>
          <a:xfrm>
            <a:off x="6565392" y="2011680"/>
            <a:ext cx="4937760" cy="182880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rgbClr val="1B2A4A"/>
                </a:solidFill>
                <a:latin typeface="Calibri" pitchFamily="34" charset="0"/>
                <a:ea typeface="Calibri" pitchFamily="34" charset="-122"/>
                <a:cs typeface="Calibri" pitchFamily="34" charset="-120"/>
              </a:rPr>
              <a:t>OWASP Juice Shop, DVWA, WebGoat, Metasploitable</a:t>
            </a:r>
            <a:endParaRPr lang="en-US" sz="1100" dirty="0"/>
          </a:p>
          <a:p>
            <a:pPr marL="177800" indent="-177800">
              <a:spcAft>
                <a:spcPts val="800"/>
              </a:spcAft>
              <a:buSzPct val="100000"/>
              <a:buChar char="•"/>
            </a:pPr>
            <a:r>
              <a:rPr lang="en-US" sz="1100" dirty="0">
                <a:solidFill>
                  <a:srgbClr val="1B2A4A"/>
                </a:solidFill>
                <a:latin typeface="Calibri" pitchFamily="34" charset="0"/>
                <a:ea typeface="Calibri" pitchFamily="34" charset="-122"/>
                <a:cs typeface="Calibri" pitchFamily="34" charset="-120"/>
              </a:rPr>
              <a:t>OverTheWire, picoCTF, PortSwigger Web Security Academy</a:t>
            </a:r>
            <a:endParaRPr lang="en-US" sz="1100" dirty="0"/>
          </a:p>
          <a:p>
            <a:pPr marL="177800" indent="-177800">
              <a:spcAft>
                <a:spcPts val="800"/>
              </a:spcAft>
              <a:buSzPct val="100000"/>
              <a:buChar char="•"/>
            </a:pPr>
            <a:r>
              <a:rPr lang="en-US" sz="1100" dirty="0">
                <a:solidFill>
                  <a:srgbClr val="1B2A4A"/>
                </a:solidFill>
                <a:latin typeface="Calibri" pitchFamily="34" charset="0"/>
                <a:ea typeface="Calibri" pitchFamily="34" charset="-122"/>
                <a:cs typeface="Calibri" pitchFamily="34" charset="-120"/>
              </a:rPr>
              <a:t>TryHackMe, Hack The Box</a:t>
            </a:r>
            <a:endParaRPr lang="en-US" sz="1100" dirty="0"/>
          </a:p>
        </p:txBody>
      </p:sp>
      <p:sp>
        <p:nvSpPr>
          <p:cNvPr id="8" name="Shape 5"/>
          <p:cNvSpPr/>
          <p:nvPr/>
        </p:nvSpPr>
        <p:spPr>
          <a:xfrm>
            <a:off x="6382512" y="3931920"/>
            <a:ext cx="5303520" cy="777240"/>
          </a:xfrm>
          <a:prstGeom prst="roundRect">
            <a:avLst>
              <a:gd name="adj" fmla="val 9412"/>
            </a:avLst>
          </a:prstGeom>
          <a:solidFill>
            <a:srgbClr val="FCECEA"/>
          </a:solidFill>
          <a:ln/>
        </p:spPr>
      </p:sp>
      <p:sp>
        <p:nvSpPr>
          <p:cNvPr id="9" name="Text 6"/>
          <p:cNvSpPr/>
          <p:nvPr/>
        </p:nvSpPr>
        <p:spPr>
          <a:xfrm>
            <a:off x="6702552" y="3931920"/>
            <a:ext cx="4663440" cy="777240"/>
          </a:xfrm>
          <a:prstGeom prst="rect">
            <a:avLst/>
          </a:prstGeom>
          <a:noFill/>
          <a:ln/>
        </p:spPr>
        <p:txBody>
          <a:bodyPr wrap="square" lIns="0" tIns="0" rIns="0" bIns="0" rtlCol="0" anchor="ctr"/>
          <a:lstStyle/>
          <a:p>
            <a:pPr algn="l" indent="0" marL="0">
              <a:lnSpc>
                <a:spcPct val="115000"/>
              </a:lnSpc>
              <a:buNone/>
            </a:pPr>
            <a:r>
              <a:rPr lang="en-US" sz="1050" i="1" dirty="0">
                <a:solidFill>
                  <a:srgbClr val="1B2A4A"/>
                </a:solidFill>
                <a:latin typeface="Cambria" pitchFamily="34" charset="0"/>
                <a:ea typeface="Cambria" pitchFamily="34" charset="-122"/>
                <a:cs typeface="Cambria" pitchFamily="34" charset="-120"/>
              </a:rPr>
              <a:t>Use only authorized environments — scanning public systems without permission can create legal and operational problems.</a:t>
            </a:r>
            <a:endParaRPr lang="en-US" sz="1050" dirty="0"/>
          </a:p>
        </p:txBody>
      </p:sp>
      <p:sp>
        <p:nvSpPr>
          <p:cNvPr id="10" name="Text 7"/>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11" name="Text 8"/>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The Legal &amp; Ethical Line</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Updated for EU / Netherlands engagements.</a:t>
            </a:r>
            <a:endParaRPr lang="en-US" sz="1200" dirty="0"/>
          </a:p>
        </p:txBody>
      </p:sp>
      <p:sp>
        <p:nvSpPr>
          <p:cNvPr id="4" name="Shape 2"/>
          <p:cNvSpPr/>
          <p:nvPr/>
        </p:nvSpPr>
        <p:spPr>
          <a:xfrm>
            <a:off x="502920" y="1417320"/>
            <a:ext cx="5486400" cy="457200"/>
          </a:xfrm>
          <a:prstGeom prst="roundRect">
            <a:avLst>
              <a:gd name="adj" fmla="val 16000"/>
            </a:avLst>
          </a:prstGeom>
          <a:solidFill>
            <a:srgbClr val="F2F5FA"/>
          </a:solidFill>
          <a:ln/>
        </p:spPr>
      </p:sp>
      <p:sp>
        <p:nvSpPr>
          <p:cNvPr id="5" name="Text 3"/>
          <p:cNvSpPr/>
          <p:nvPr/>
        </p:nvSpPr>
        <p:spPr>
          <a:xfrm>
            <a:off x="685800" y="1417320"/>
            <a:ext cx="5120640" cy="45720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Authorization must define</a:t>
            </a:r>
            <a:endParaRPr lang="en-US" sz="1400" dirty="0"/>
          </a:p>
        </p:txBody>
      </p:sp>
      <p:sp>
        <p:nvSpPr>
          <p:cNvPr id="6" name="Text 4"/>
          <p:cNvSpPr/>
          <p:nvPr/>
        </p:nvSpPr>
        <p:spPr>
          <a:xfrm>
            <a:off x="685800" y="2011680"/>
            <a:ext cx="5212080" cy="274320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B2A4A"/>
                </a:solidFill>
                <a:latin typeface="Calibri" pitchFamily="34" charset="0"/>
                <a:ea typeface="Calibri" pitchFamily="34" charset="-122"/>
                <a:cs typeface="Calibri" pitchFamily="34" charset="-120"/>
              </a:rPr>
              <a:t>Written authorization and clearly defined scope</a:t>
            </a:r>
            <a:endParaRPr lang="en-US" sz="1050" dirty="0"/>
          </a:p>
          <a:p>
            <a:pPr marL="177800" indent="-177800">
              <a:spcAft>
                <a:spcPts val="600"/>
              </a:spcAft>
              <a:buSzPct val="100000"/>
              <a:buChar char="•"/>
            </a:pPr>
            <a:r>
              <a:rPr lang="en-US" sz="1050" dirty="0">
                <a:solidFill>
                  <a:srgbClr val="1B2A4A"/>
                </a:solidFill>
                <a:latin typeface="Calibri" pitchFamily="34" charset="0"/>
                <a:ea typeface="Calibri" pitchFamily="34" charset="-122"/>
                <a:cs typeface="Calibri" pitchFamily="34" charset="-120"/>
              </a:rPr>
              <a:t>Testing dates, times, and approved source IPs</a:t>
            </a:r>
            <a:endParaRPr lang="en-US" sz="1050" dirty="0"/>
          </a:p>
          <a:p>
            <a:pPr marL="177800" indent="-177800">
              <a:spcAft>
                <a:spcPts val="600"/>
              </a:spcAft>
              <a:buSzPct val="100000"/>
              <a:buChar char="•"/>
            </a:pPr>
            <a:r>
              <a:rPr lang="en-US" sz="1050" dirty="0">
                <a:solidFill>
                  <a:srgbClr val="1B2A4A"/>
                </a:solidFill>
                <a:latin typeface="Calibri" pitchFamily="34" charset="0"/>
                <a:ea typeface="Calibri" pitchFamily="34" charset="-122"/>
                <a:cs typeface="Calibri" pitchFamily="34" charset="-120"/>
              </a:rPr>
              <a:t>Rate limits and rules for handling personal data</a:t>
            </a:r>
            <a:endParaRPr lang="en-US" sz="1050" dirty="0"/>
          </a:p>
          <a:p>
            <a:pPr marL="177800" indent="-177800">
              <a:spcAft>
                <a:spcPts val="600"/>
              </a:spcAft>
              <a:buSzPct val="100000"/>
              <a:buChar char="•"/>
            </a:pPr>
            <a:r>
              <a:rPr lang="en-US" sz="1050" dirty="0">
                <a:solidFill>
                  <a:srgbClr val="1B2A4A"/>
                </a:solidFill>
                <a:latin typeface="Calibri" pitchFamily="34" charset="0"/>
                <a:ea typeface="Calibri" pitchFamily="34" charset="-122"/>
                <a:cs typeface="Calibri" pitchFamily="34" charset="-120"/>
              </a:rPr>
              <a:t>Rules for exploiting vulnerabilities; a stop condition</a:t>
            </a:r>
            <a:endParaRPr lang="en-US" sz="1050" dirty="0"/>
          </a:p>
          <a:p>
            <a:pPr marL="177800" indent="-177800">
              <a:spcAft>
                <a:spcPts val="600"/>
              </a:spcAft>
              <a:buSzPct val="100000"/>
              <a:buChar char="•"/>
            </a:pPr>
            <a:r>
              <a:rPr lang="en-US" sz="1050" dirty="0">
                <a:solidFill>
                  <a:srgbClr val="1B2A4A"/>
                </a:solidFill>
                <a:latin typeface="Calibri" pitchFamily="34" charset="0"/>
                <a:ea typeface="Calibri" pitchFamily="34" charset="-122"/>
                <a:cs typeface="Calibri" pitchFamily="34" charset="-120"/>
              </a:rPr>
              <a:t>Emergency contacts and evidence-handling requirements</a:t>
            </a:r>
            <a:endParaRPr lang="en-US" sz="1050" dirty="0"/>
          </a:p>
          <a:p>
            <a:pPr marL="177800" indent="-177800">
              <a:spcAft>
                <a:spcPts val="600"/>
              </a:spcAft>
              <a:buSzPct val="100000"/>
              <a:buChar char="•"/>
            </a:pPr>
            <a:r>
              <a:rPr lang="en-US" sz="1050" dirty="0">
                <a:solidFill>
                  <a:srgbClr val="1B2A4A"/>
                </a:solidFill>
                <a:latin typeface="Calibri" pitchFamily="34" charset="0"/>
                <a:ea typeface="Calibri" pitchFamily="34" charset="-122"/>
                <a:cs typeface="Calibri" pitchFamily="34" charset="-120"/>
              </a:rPr>
              <a:t>Secure deletion of data; responsible-disclosure timelines</a:t>
            </a:r>
            <a:endParaRPr lang="en-US" sz="1050" dirty="0"/>
          </a:p>
        </p:txBody>
      </p:sp>
      <p:sp>
        <p:nvSpPr>
          <p:cNvPr id="7" name="Shape 5"/>
          <p:cNvSpPr/>
          <p:nvPr/>
        </p:nvSpPr>
        <p:spPr>
          <a:xfrm>
            <a:off x="6199632" y="1417320"/>
            <a:ext cx="5486400" cy="457200"/>
          </a:xfrm>
          <a:prstGeom prst="roundRect">
            <a:avLst>
              <a:gd name="adj" fmla="val 16000"/>
            </a:avLst>
          </a:prstGeom>
          <a:solidFill>
            <a:srgbClr val="E7F7EE"/>
          </a:solidFill>
          <a:ln/>
        </p:spPr>
      </p:sp>
      <p:sp>
        <p:nvSpPr>
          <p:cNvPr id="8" name="Text 6"/>
          <p:cNvSpPr/>
          <p:nvPr/>
        </p:nvSpPr>
        <p:spPr>
          <a:xfrm>
            <a:off x="6382512" y="1417320"/>
            <a:ext cx="5120640" cy="457200"/>
          </a:xfrm>
          <a:prstGeom prst="rect">
            <a:avLst/>
          </a:prstGeom>
          <a:noFill/>
          <a:ln/>
        </p:spPr>
        <p:txBody>
          <a:bodyPr wrap="square" lIns="0" tIns="0" rIns="0" bIns="0" rtlCol="0" anchor="ctr"/>
          <a:lstStyle/>
          <a:p>
            <a:pPr indent="0" marL="0">
              <a:buNone/>
            </a:pPr>
            <a:r>
              <a:rPr lang="en-US" sz="1400" b="1" dirty="0">
                <a:solidFill>
                  <a:srgbClr val="1EA854"/>
                </a:solidFill>
                <a:latin typeface="Calibri" pitchFamily="34" charset="0"/>
                <a:ea typeface="Calibri" pitchFamily="34" charset="-122"/>
                <a:cs typeface="Calibri" pitchFamily="34" charset="-120"/>
              </a:rPr>
              <a:t>Evolving regulatory landscape</a:t>
            </a:r>
            <a:endParaRPr lang="en-US" sz="1400" dirty="0"/>
          </a:p>
        </p:txBody>
      </p:sp>
      <p:sp>
        <p:nvSpPr>
          <p:cNvPr id="9" name="Text 7"/>
          <p:cNvSpPr/>
          <p:nvPr/>
        </p:nvSpPr>
        <p:spPr>
          <a:xfrm>
            <a:off x="6382512" y="2011680"/>
            <a:ext cx="5212080" cy="2743200"/>
          </a:xfrm>
          <a:prstGeom prst="rect">
            <a:avLst/>
          </a:prstGeom>
          <a:noFill/>
          <a:ln/>
        </p:spPr>
        <p:txBody>
          <a:bodyPr wrap="square" lIns="0" tIns="0" rIns="0" bIns="0" rtlCol="0" anchor="t"/>
          <a:lstStyle/>
          <a:p>
            <a:pPr marL="177800" indent="-177800">
              <a:spcAft>
                <a:spcPts val="800"/>
              </a:spcAft>
              <a:buSzPct val="100000"/>
              <a:buChar char="•"/>
            </a:pPr>
            <a:r>
              <a:rPr lang="en-US" sz="1080" dirty="0">
                <a:solidFill>
                  <a:srgbClr val="1B2A4A"/>
                </a:solidFill>
                <a:latin typeface="Calibri" pitchFamily="34" charset="0"/>
                <a:ea typeface="Calibri" pitchFamily="34" charset="-122"/>
                <a:cs typeface="Calibri" pitchFamily="34" charset="-120"/>
              </a:rPr>
              <a:t>NIS2 obligations</a:t>
            </a:r>
            <a:endParaRPr lang="en-US" sz="1080" dirty="0"/>
          </a:p>
          <a:p>
            <a:pPr marL="177800" indent="-177800">
              <a:spcAft>
                <a:spcPts val="800"/>
              </a:spcAft>
              <a:buSzPct val="100000"/>
              <a:buChar char="•"/>
            </a:pPr>
            <a:r>
              <a:rPr lang="en-US" sz="1080" dirty="0">
                <a:solidFill>
                  <a:srgbClr val="1B2A4A"/>
                </a:solidFill>
                <a:latin typeface="Calibri" pitchFamily="34" charset="0"/>
                <a:ea typeface="Calibri" pitchFamily="34" charset="-122"/>
                <a:cs typeface="Calibri" pitchFamily="34" charset="-120"/>
              </a:rPr>
              <a:t>EU Cyber Resilience Act</a:t>
            </a:r>
            <a:endParaRPr lang="en-US" sz="1080" dirty="0"/>
          </a:p>
          <a:p>
            <a:pPr marL="177800" indent="-177800">
              <a:spcAft>
                <a:spcPts val="800"/>
              </a:spcAft>
              <a:buSzPct val="100000"/>
              <a:buChar char="•"/>
            </a:pPr>
            <a:r>
              <a:rPr lang="en-US" sz="1080" dirty="0">
                <a:solidFill>
                  <a:srgbClr val="1B2A4A"/>
                </a:solidFill>
                <a:latin typeface="Calibri" pitchFamily="34" charset="0"/>
                <a:ea typeface="Calibri" pitchFamily="34" charset="-122"/>
                <a:cs typeface="Calibri" pitchFamily="34" charset="-120"/>
              </a:rPr>
              <a:t>GDPR responsibilities</a:t>
            </a:r>
            <a:endParaRPr lang="en-US" sz="1080" dirty="0"/>
          </a:p>
          <a:p>
            <a:pPr marL="177800" indent="-177800">
              <a:spcAft>
                <a:spcPts val="800"/>
              </a:spcAft>
              <a:buSzPct val="100000"/>
              <a:buChar char="•"/>
            </a:pPr>
            <a:r>
              <a:rPr lang="en-US" sz="1080" dirty="0">
                <a:solidFill>
                  <a:srgbClr val="1B2A4A"/>
                </a:solidFill>
                <a:latin typeface="Calibri" pitchFamily="34" charset="0"/>
                <a:ea typeface="Calibri" pitchFamily="34" charset="-122"/>
                <a:cs typeface="Calibri" pitchFamily="34" charset="-120"/>
              </a:rPr>
              <a:t>Digital operational resilience (DORA) for finance</a:t>
            </a:r>
            <a:endParaRPr lang="en-US" sz="1080" dirty="0"/>
          </a:p>
          <a:p>
            <a:pPr marL="177800" indent="-177800">
              <a:spcAft>
                <a:spcPts val="800"/>
              </a:spcAft>
              <a:buSzPct val="100000"/>
              <a:buChar char="•"/>
            </a:pPr>
            <a:r>
              <a:rPr lang="en-US" sz="1080" dirty="0">
                <a:solidFill>
                  <a:srgbClr val="1B2A4A"/>
                </a:solidFill>
                <a:latin typeface="Calibri" pitchFamily="34" charset="0"/>
                <a:ea typeface="Calibri" pitchFamily="34" charset="-122"/>
                <a:cs typeface="Calibri" pitchFamily="34" charset="-120"/>
              </a:rPr>
              <a:t>Sector-specific incident-reporting rules</a:t>
            </a:r>
            <a:endParaRPr lang="en-US" sz="1080" dirty="0"/>
          </a:p>
        </p:txBody>
      </p:sp>
      <p:sp>
        <p:nvSpPr>
          <p:cNvPr id="10" name="Shape 8"/>
          <p:cNvSpPr/>
          <p:nvPr/>
        </p:nvSpPr>
        <p:spPr>
          <a:xfrm>
            <a:off x="502920" y="4937760"/>
            <a:ext cx="11183112" cy="1280160"/>
          </a:xfrm>
          <a:prstGeom prst="roundRect">
            <a:avLst>
              <a:gd name="adj" fmla="val 5714"/>
            </a:avLst>
          </a:prstGeom>
          <a:solidFill>
            <a:srgbClr val="FCECEA"/>
          </a:solidFill>
          <a:ln/>
        </p:spPr>
      </p:sp>
      <p:sp>
        <p:nvSpPr>
          <p:cNvPr id="11" name="Text 9"/>
          <p:cNvSpPr/>
          <p:nvPr/>
        </p:nvSpPr>
        <p:spPr>
          <a:xfrm>
            <a:off x="731520" y="5074920"/>
            <a:ext cx="10698480" cy="105156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B2A4A"/>
                </a:solidFill>
                <a:latin typeface="Calibri" pitchFamily="34" charset="0"/>
                <a:ea typeface="Calibri" pitchFamily="34" charset="-122"/>
                <a:cs typeface="Calibri" pitchFamily="34" charset="-120"/>
              </a:rPr>
              <a:t>Authorization must describe what you may test, how you may test it, when you may test it, and what you must do if you discover sensitive data.</a:t>
            </a:r>
            <a:endParaRPr lang="en-US" sz="1050" dirty="0"/>
          </a:p>
          <a:p>
            <a:pPr marL="177800" indent="-177800">
              <a:spcAft>
                <a:spcPts val="600"/>
              </a:spcAft>
              <a:buSzPct val="100000"/>
              <a:buChar char="•"/>
            </a:pPr>
            <a:r>
              <a:rPr lang="en-US" sz="1050" dirty="0">
                <a:solidFill>
                  <a:srgbClr val="1B2A4A"/>
                </a:solidFill>
                <a:latin typeface="Calibri" pitchFamily="34" charset="0"/>
                <a:ea typeface="Calibri" pitchFamily="34" charset="-122"/>
                <a:cs typeface="Calibri" pitchFamily="34" charset="-120"/>
              </a:rPr>
              <a:t>Unauthorized access, scanning, data collection, or disruption can have legal consequences. Obtain permission and follow the agreed scope.</a:t>
            </a:r>
            <a:endParaRPr lang="en-US" sz="1050" dirty="0"/>
          </a:p>
        </p:txBody>
      </p:sp>
      <p:sp>
        <p:nvSpPr>
          <p:cNvPr id="12" name="Text 10"/>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13" name="Text 11"/>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55680" cy="50292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How to Start Learning</a:t>
            </a:r>
            <a:endParaRPr lang="en-US" sz="2700" dirty="0"/>
          </a:p>
        </p:txBody>
      </p:sp>
      <p:sp>
        <p:nvSpPr>
          <p:cNvPr id="3" name="Text 1"/>
          <p:cNvSpPr/>
          <p:nvPr/>
        </p:nvSpPr>
        <p:spPr>
          <a:xfrm>
            <a:off x="502920" y="786384"/>
            <a:ext cx="11155680" cy="329184"/>
          </a:xfrm>
          <a:prstGeom prst="rect">
            <a:avLst/>
          </a:prstGeom>
          <a:noFill/>
          <a:ln/>
        </p:spPr>
        <p:txBody>
          <a:bodyPr wrap="square" lIns="0" tIns="0" rIns="0" bIns="0" rtlCol="0" anchor="ctr"/>
          <a:lstStyle/>
          <a:p>
            <a:pPr indent="0" marL="0">
              <a:buNone/>
            </a:pPr>
            <a:r>
              <a:rPr lang="en-US" sz="1200" dirty="0">
                <a:solidFill>
                  <a:srgbClr val="5A6472"/>
                </a:solidFill>
                <a:latin typeface="Calibri" pitchFamily="34" charset="0"/>
                <a:ea typeface="Calibri" pitchFamily="34" charset="-122"/>
                <a:cs typeface="Calibri" pitchFamily="34" charset="-120"/>
              </a:rPr>
              <a:t>A longer roadmap for a broader field.</a:t>
            </a:r>
            <a:endParaRPr lang="en-US" sz="1200" dirty="0"/>
          </a:p>
        </p:txBody>
      </p:sp>
      <p:sp>
        <p:nvSpPr>
          <p:cNvPr id="4" name="Shape 2"/>
          <p:cNvSpPr/>
          <p:nvPr/>
        </p:nvSpPr>
        <p:spPr>
          <a:xfrm>
            <a:off x="502920" y="1508760"/>
            <a:ext cx="384048" cy="384048"/>
          </a:xfrm>
          <a:prstGeom prst="ellipse">
            <a:avLst/>
          </a:prstGeom>
          <a:solidFill>
            <a:srgbClr val="2ECC71"/>
          </a:solidFill>
          <a:ln/>
        </p:spPr>
      </p:sp>
      <p:sp>
        <p:nvSpPr>
          <p:cNvPr id="5" name="Text 3"/>
          <p:cNvSpPr/>
          <p:nvPr/>
        </p:nvSpPr>
        <p:spPr>
          <a:xfrm>
            <a:off x="50292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365760" y="198424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Linux &amp;</a:t>
            </a:r>
            <a:endParaRPr lang="en-US" sz="1050" dirty="0"/>
          </a:p>
          <a:p>
            <a:pPr algn="l" indent="0" marL="0">
              <a:buNone/>
            </a:pPr>
            <a:r>
              <a:rPr lang="en-US" sz="1050" b="1" dirty="0">
                <a:solidFill>
                  <a:srgbClr val="1B2A4A"/>
                </a:solidFill>
                <a:latin typeface="Calibri" pitchFamily="34" charset="0"/>
                <a:ea typeface="Calibri" pitchFamily="34" charset="-122"/>
                <a:cs typeface="Calibri" pitchFamily="34" charset="-120"/>
              </a:rPr>
              <a:t>CLI</a:t>
            </a:r>
            <a:endParaRPr lang="en-US" sz="1050" dirty="0"/>
          </a:p>
        </p:txBody>
      </p:sp>
      <p:sp>
        <p:nvSpPr>
          <p:cNvPr id="7" name="Text 5"/>
          <p:cNvSpPr/>
          <p:nvPr/>
        </p:nvSpPr>
        <p:spPr>
          <a:xfrm>
            <a:off x="365760" y="229514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Command-line fundamentals.</a:t>
            </a:r>
            <a:endParaRPr lang="en-US" sz="900" dirty="0"/>
          </a:p>
        </p:txBody>
      </p:sp>
      <p:sp>
        <p:nvSpPr>
          <p:cNvPr id="8" name="Shape 6"/>
          <p:cNvSpPr/>
          <p:nvPr/>
        </p:nvSpPr>
        <p:spPr>
          <a:xfrm>
            <a:off x="2779776" y="1508760"/>
            <a:ext cx="384048" cy="384048"/>
          </a:xfrm>
          <a:prstGeom prst="ellipse">
            <a:avLst/>
          </a:prstGeom>
          <a:solidFill>
            <a:srgbClr val="2ECC71"/>
          </a:solidFill>
          <a:ln/>
        </p:spPr>
      </p:sp>
      <p:sp>
        <p:nvSpPr>
          <p:cNvPr id="9" name="Text 7"/>
          <p:cNvSpPr/>
          <p:nvPr/>
        </p:nvSpPr>
        <p:spPr>
          <a:xfrm>
            <a:off x="2779776"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2642616" y="198424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Networking</a:t>
            </a:r>
            <a:endParaRPr lang="en-US" sz="1050" dirty="0"/>
          </a:p>
        </p:txBody>
      </p:sp>
      <p:sp>
        <p:nvSpPr>
          <p:cNvPr id="11" name="Text 9"/>
          <p:cNvSpPr/>
          <p:nvPr/>
        </p:nvSpPr>
        <p:spPr>
          <a:xfrm>
            <a:off x="2642616" y="229514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TCP/IP, DNS, HTTP, TLS, auth.</a:t>
            </a:r>
            <a:endParaRPr lang="en-US" sz="900" dirty="0"/>
          </a:p>
        </p:txBody>
      </p:sp>
      <p:sp>
        <p:nvSpPr>
          <p:cNvPr id="12" name="Shape 10"/>
          <p:cNvSpPr/>
          <p:nvPr/>
        </p:nvSpPr>
        <p:spPr>
          <a:xfrm>
            <a:off x="5056632" y="1508760"/>
            <a:ext cx="384048" cy="384048"/>
          </a:xfrm>
          <a:prstGeom prst="ellipse">
            <a:avLst/>
          </a:prstGeom>
          <a:solidFill>
            <a:srgbClr val="2ECC71"/>
          </a:solidFill>
          <a:ln/>
        </p:spPr>
      </p:sp>
      <p:sp>
        <p:nvSpPr>
          <p:cNvPr id="13" name="Text 11"/>
          <p:cNvSpPr/>
          <p:nvPr/>
        </p:nvSpPr>
        <p:spPr>
          <a:xfrm>
            <a:off x="5056632"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4919472" y="198424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Python /</a:t>
            </a:r>
            <a:endParaRPr lang="en-US" sz="1050" dirty="0"/>
          </a:p>
          <a:p>
            <a:pPr algn="l" indent="0" marL="0">
              <a:buNone/>
            </a:pPr>
            <a:r>
              <a:rPr lang="en-US" sz="1050" b="1" dirty="0">
                <a:solidFill>
                  <a:srgbClr val="1B2A4A"/>
                </a:solidFill>
                <a:latin typeface="Calibri" pitchFamily="34" charset="0"/>
                <a:ea typeface="Calibri" pitchFamily="34" charset="-122"/>
                <a:cs typeface="Calibri" pitchFamily="34" charset="-120"/>
              </a:rPr>
              <a:t>Bash</a:t>
            </a:r>
            <a:endParaRPr lang="en-US" sz="1050" dirty="0"/>
          </a:p>
        </p:txBody>
      </p:sp>
      <p:sp>
        <p:nvSpPr>
          <p:cNvPr id="15" name="Text 13"/>
          <p:cNvSpPr/>
          <p:nvPr/>
        </p:nvSpPr>
        <p:spPr>
          <a:xfrm>
            <a:off x="4919472" y="229514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Automate tasks.</a:t>
            </a:r>
            <a:endParaRPr lang="en-US" sz="900" dirty="0"/>
          </a:p>
        </p:txBody>
      </p:sp>
      <p:sp>
        <p:nvSpPr>
          <p:cNvPr id="16" name="Shape 14"/>
          <p:cNvSpPr/>
          <p:nvPr/>
        </p:nvSpPr>
        <p:spPr>
          <a:xfrm>
            <a:off x="7333488" y="1508760"/>
            <a:ext cx="384048" cy="384048"/>
          </a:xfrm>
          <a:prstGeom prst="ellipse">
            <a:avLst/>
          </a:prstGeom>
          <a:solidFill>
            <a:srgbClr val="2ECC71"/>
          </a:solidFill>
          <a:ln/>
        </p:spPr>
      </p:sp>
      <p:sp>
        <p:nvSpPr>
          <p:cNvPr id="17" name="Text 15"/>
          <p:cNvSpPr/>
          <p:nvPr/>
        </p:nvSpPr>
        <p:spPr>
          <a:xfrm>
            <a:off x="7333488"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7196328" y="198424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Web app</a:t>
            </a:r>
            <a:endParaRPr lang="en-US" sz="1050" dirty="0"/>
          </a:p>
          <a:p>
            <a:pPr algn="l" indent="0" marL="0">
              <a:buNone/>
            </a:pPr>
            <a:r>
              <a:rPr lang="en-US" sz="1050" b="1" dirty="0">
                <a:solidFill>
                  <a:srgbClr val="1B2A4A"/>
                </a:solidFill>
                <a:latin typeface="Calibri" pitchFamily="34" charset="0"/>
                <a:ea typeface="Calibri" pitchFamily="34" charset="-122"/>
                <a:cs typeface="Calibri" pitchFamily="34" charset="-120"/>
              </a:rPr>
              <a:t>security</a:t>
            </a:r>
            <a:endParaRPr lang="en-US" sz="1050" dirty="0"/>
          </a:p>
        </p:txBody>
      </p:sp>
      <p:sp>
        <p:nvSpPr>
          <p:cNvPr id="19" name="Text 17"/>
          <p:cNvSpPr/>
          <p:nvPr/>
        </p:nvSpPr>
        <p:spPr>
          <a:xfrm>
            <a:off x="7196328" y="229514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OWASP Top 10.</a:t>
            </a:r>
            <a:endParaRPr lang="en-US" sz="900" dirty="0"/>
          </a:p>
        </p:txBody>
      </p:sp>
      <p:sp>
        <p:nvSpPr>
          <p:cNvPr id="20" name="Shape 18"/>
          <p:cNvSpPr/>
          <p:nvPr/>
        </p:nvSpPr>
        <p:spPr>
          <a:xfrm>
            <a:off x="9610344" y="1508760"/>
            <a:ext cx="384048" cy="384048"/>
          </a:xfrm>
          <a:prstGeom prst="ellipse">
            <a:avLst/>
          </a:prstGeom>
          <a:solidFill>
            <a:srgbClr val="2ECC71"/>
          </a:solidFill>
          <a:ln/>
        </p:spPr>
      </p:sp>
      <p:sp>
        <p:nvSpPr>
          <p:cNvPr id="21" name="Text 19"/>
          <p:cNvSpPr/>
          <p:nvPr/>
        </p:nvSpPr>
        <p:spPr>
          <a:xfrm>
            <a:off x="9610344"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9473184" y="198424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Identity &amp;</a:t>
            </a:r>
            <a:endParaRPr lang="en-US" sz="1050" dirty="0"/>
          </a:p>
          <a:p>
            <a:pPr algn="l" indent="0" marL="0">
              <a:buNone/>
            </a:pPr>
            <a:r>
              <a:rPr lang="en-US" sz="1050" b="1" dirty="0">
                <a:solidFill>
                  <a:srgbClr val="1B2A4A"/>
                </a:solidFill>
                <a:latin typeface="Calibri" pitchFamily="34" charset="0"/>
                <a:ea typeface="Calibri" pitchFamily="34" charset="-122"/>
                <a:cs typeface="Calibri" pitchFamily="34" charset="-120"/>
              </a:rPr>
              <a:t>access</a:t>
            </a:r>
            <a:endParaRPr lang="en-US" sz="1050" dirty="0"/>
          </a:p>
        </p:txBody>
      </p:sp>
      <p:sp>
        <p:nvSpPr>
          <p:cNvPr id="23" name="Text 21"/>
          <p:cNvSpPr/>
          <p:nvPr/>
        </p:nvSpPr>
        <p:spPr>
          <a:xfrm>
            <a:off x="9473184" y="229514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IAM fundamentals.</a:t>
            </a:r>
            <a:endParaRPr lang="en-US" sz="900" dirty="0"/>
          </a:p>
        </p:txBody>
      </p:sp>
      <p:sp>
        <p:nvSpPr>
          <p:cNvPr id="24" name="Shape 22"/>
          <p:cNvSpPr/>
          <p:nvPr/>
        </p:nvSpPr>
        <p:spPr>
          <a:xfrm>
            <a:off x="502920" y="3246120"/>
            <a:ext cx="384048" cy="384048"/>
          </a:xfrm>
          <a:prstGeom prst="ellipse">
            <a:avLst/>
          </a:prstGeom>
          <a:solidFill>
            <a:srgbClr val="2ECC71"/>
          </a:solidFill>
          <a:ln/>
        </p:spPr>
      </p:sp>
      <p:sp>
        <p:nvSpPr>
          <p:cNvPr id="25" name="Text 23"/>
          <p:cNvSpPr/>
          <p:nvPr/>
        </p:nvSpPr>
        <p:spPr>
          <a:xfrm>
            <a:off x="502920"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6" name="Text 24"/>
          <p:cNvSpPr/>
          <p:nvPr/>
        </p:nvSpPr>
        <p:spPr>
          <a:xfrm>
            <a:off x="365760" y="372160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Cloud</a:t>
            </a:r>
            <a:endParaRPr lang="en-US" sz="1050" dirty="0"/>
          </a:p>
          <a:p>
            <a:pPr algn="l" indent="0" marL="0">
              <a:buNone/>
            </a:pPr>
            <a:r>
              <a:rPr lang="en-US" sz="1050" b="1" dirty="0">
                <a:solidFill>
                  <a:srgbClr val="1B2A4A"/>
                </a:solidFill>
                <a:latin typeface="Calibri" pitchFamily="34" charset="0"/>
                <a:ea typeface="Calibri" pitchFamily="34" charset="-122"/>
                <a:cs typeface="Calibri" pitchFamily="34" charset="-120"/>
              </a:rPr>
              <a:t>fundamentals</a:t>
            </a:r>
            <a:endParaRPr lang="en-US" sz="1050" dirty="0"/>
          </a:p>
        </p:txBody>
      </p:sp>
      <p:sp>
        <p:nvSpPr>
          <p:cNvPr id="27" name="Text 25"/>
          <p:cNvSpPr/>
          <p:nvPr/>
        </p:nvSpPr>
        <p:spPr>
          <a:xfrm>
            <a:off x="365760" y="403250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Core cloud concepts.</a:t>
            </a:r>
            <a:endParaRPr lang="en-US" sz="900" dirty="0"/>
          </a:p>
        </p:txBody>
      </p:sp>
      <p:sp>
        <p:nvSpPr>
          <p:cNvPr id="28" name="Shape 26"/>
          <p:cNvSpPr/>
          <p:nvPr/>
        </p:nvSpPr>
        <p:spPr>
          <a:xfrm>
            <a:off x="2779776" y="3246120"/>
            <a:ext cx="384048" cy="384048"/>
          </a:xfrm>
          <a:prstGeom prst="ellipse">
            <a:avLst/>
          </a:prstGeom>
          <a:solidFill>
            <a:srgbClr val="2ECC71"/>
          </a:solidFill>
          <a:ln/>
        </p:spPr>
      </p:sp>
      <p:sp>
        <p:nvSpPr>
          <p:cNvPr id="29" name="Text 27"/>
          <p:cNvSpPr/>
          <p:nvPr/>
        </p:nvSpPr>
        <p:spPr>
          <a:xfrm>
            <a:off x="2779776"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0" name="Text 28"/>
          <p:cNvSpPr/>
          <p:nvPr/>
        </p:nvSpPr>
        <p:spPr>
          <a:xfrm>
            <a:off x="2642616" y="372160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Supply-chain</a:t>
            </a:r>
            <a:endParaRPr lang="en-US" sz="1050" dirty="0"/>
          </a:p>
          <a:p>
            <a:pPr algn="l" indent="0" marL="0">
              <a:buNone/>
            </a:pPr>
            <a:r>
              <a:rPr lang="en-US" sz="1050" b="1" dirty="0">
                <a:solidFill>
                  <a:srgbClr val="1B2A4A"/>
                </a:solidFill>
                <a:latin typeface="Calibri" pitchFamily="34" charset="0"/>
                <a:ea typeface="Calibri" pitchFamily="34" charset="-122"/>
                <a:cs typeface="Calibri" pitchFamily="34" charset="-120"/>
              </a:rPr>
              <a:t>security</a:t>
            </a:r>
            <a:endParaRPr lang="en-US" sz="1050" dirty="0"/>
          </a:p>
        </p:txBody>
      </p:sp>
      <p:sp>
        <p:nvSpPr>
          <p:cNvPr id="31" name="Text 29"/>
          <p:cNvSpPr/>
          <p:nvPr/>
        </p:nvSpPr>
        <p:spPr>
          <a:xfrm>
            <a:off x="2642616" y="403250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Secure software delivery.</a:t>
            </a:r>
            <a:endParaRPr lang="en-US" sz="900" dirty="0"/>
          </a:p>
        </p:txBody>
      </p:sp>
      <p:sp>
        <p:nvSpPr>
          <p:cNvPr id="32" name="Shape 30"/>
          <p:cNvSpPr/>
          <p:nvPr/>
        </p:nvSpPr>
        <p:spPr>
          <a:xfrm>
            <a:off x="5056632" y="3246120"/>
            <a:ext cx="384048" cy="384048"/>
          </a:xfrm>
          <a:prstGeom prst="ellipse">
            <a:avLst/>
          </a:prstGeom>
          <a:solidFill>
            <a:srgbClr val="2ECC71"/>
          </a:solidFill>
          <a:ln/>
        </p:spPr>
      </p:sp>
      <p:sp>
        <p:nvSpPr>
          <p:cNvPr id="33" name="Text 31"/>
          <p:cNvSpPr/>
          <p:nvPr/>
        </p:nvSpPr>
        <p:spPr>
          <a:xfrm>
            <a:off x="5056632"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32"/>
          <p:cNvSpPr/>
          <p:nvPr/>
        </p:nvSpPr>
        <p:spPr>
          <a:xfrm>
            <a:off x="4919472" y="372160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Detection &amp;</a:t>
            </a:r>
            <a:endParaRPr lang="en-US" sz="1050" dirty="0"/>
          </a:p>
          <a:p>
            <a:pPr algn="l" indent="0" marL="0">
              <a:buNone/>
            </a:pPr>
            <a:r>
              <a:rPr lang="en-US" sz="1050" b="1" dirty="0">
                <a:solidFill>
                  <a:srgbClr val="1B2A4A"/>
                </a:solidFill>
                <a:latin typeface="Calibri" pitchFamily="34" charset="0"/>
                <a:ea typeface="Calibri" pitchFamily="34" charset="-122"/>
                <a:cs typeface="Calibri" pitchFamily="34" charset="-120"/>
              </a:rPr>
              <a:t>response</a:t>
            </a:r>
            <a:endParaRPr lang="en-US" sz="1050" dirty="0"/>
          </a:p>
        </p:txBody>
      </p:sp>
      <p:sp>
        <p:nvSpPr>
          <p:cNvPr id="35" name="Text 33"/>
          <p:cNvSpPr/>
          <p:nvPr/>
        </p:nvSpPr>
        <p:spPr>
          <a:xfrm>
            <a:off x="4919472" y="403250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Logging and IR.</a:t>
            </a:r>
            <a:endParaRPr lang="en-US" sz="900" dirty="0"/>
          </a:p>
        </p:txBody>
      </p:sp>
      <p:sp>
        <p:nvSpPr>
          <p:cNvPr id="36" name="Shape 34"/>
          <p:cNvSpPr/>
          <p:nvPr/>
        </p:nvSpPr>
        <p:spPr>
          <a:xfrm>
            <a:off x="7333488" y="3246120"/>
            <a:ext cx="384048" cy="384048"/>
          </a:xfrm>
          <a:prstGeom prst="ellipse">
            <a:avLst/>
          </a:prstGeom>
          <a:solidFill>
            <a:srgbClr val="2ECC71"/>
          </a:solidFill>
          <a:ln/>
        </p:spPr>
      </p:sp>
      <p:sp>
        <p:nvSpPr>
          <p:cNvPr id="37" name="Text 35"/>
          <p:cNvSpPr/>
          <p:nvPr/>
        </p:nvSpPr>
        <p:spPr>
          <a:xfrm>
            <a:off x="7333488"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8" name="Text 36"/>
          <p:cNvSpPr/>
          <p:nvPr/>
        </p:nvSpPr>
        <p:spPr>
          <a:xfrm>
            <a:off x="7196328" y="372160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Digital</a:t>
            </a:r>
            <a:endParaRPr lang="en-US" sz="1050" dirty="0"/>
          </a:p>
          <a:p>
            <a:pPr algn="l" indent="0" marL="0">
              <a:buNone/>
            </a:pPr>
            <a:r>
              <a:rPr lang="en-US" sz="1050" b="1" dirty="0">
                <a:solidFill>
                  <a:srgbClr val="1B2A4A"/>
                </a:solidFill>
                <a:latin typeface="Calibri" pitchFamily="34" charset="0"/>
                <a:ea typeface="Calibri" pitchFamily="34" charset="-122"/>
                <a:cs typeface="Calibri" pitchFamily="34" charset="-120"/>
              </a:rPr>
              <a:t>forensics</a:t>
            </a:r>
            <a:endParaRPr lang="en-US" sz="1050" dirty="0"/>
          </a:p>
        </p:txBody>
      </p:sp>
      <p:sp>
        <p:nvSpPr>
          <p:cNvPr id="39" name="Text 37"/>
          <p:cNvSpPr/>
          <p:nvPr/>
        </p:nvSpPr>
        <p:spPr>
          <a:xfrm>
            <a:off x="7196328" y="403250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Investigate incidents.</a:t>
            </a:r>
            <a:endParaRPr lang="en-US" sz="900" dirty="0"/>
          </a:p>
        </p:txBody>
      </p:sp>
      <p:sp>
        <p:nvSpPr>
          <p:cNvPr id="40" name="Shape 38"/>
          <p:cNvSpPr/>
          <p:nvPr/>
        </p:nvSpPr>
        <p:spPr>
          <a:xfrm>
            <a:off x="9610344" y="3246120"/>
            <a:ext cx="384048" cy="384048"/>
          </a:xfrm>
          <a:prstGeom prst="ellipse">
            <a:avLst/>
          </a:prstGeom>
          <a:solidFill>
            <a:srgbClr val="2ECC71"/>
          </a:solidFill>
          <a:ln/>
        </p:spPr>
      </p:sp>
      <p:sp>
        <p:nvSpPr>
          <p:cNvPr id="41" name="Text 39"/>
          <p:cNvSpPr/>
          <p:nvPr/>
        </p:nvSpPr>
        <p:spPr>
          <a:xfrm>
            <a:off x="9610344"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2" name="Text 40"/>
          <p:cNvSpPr/>
          <p:nvPr/>
        </p:nvSpPr>
        <p:spPr>
          <a:xfrm>
            <a:off x="9473184" y="3721608"/>
            <a:ext cx="2350008" cy="310896"/>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Specialize</a:t>
            </a:r>
            <a:endParaRPr lang="en-US" sz="1050" dirty="0"/>
          </a:p>
        </p:txBody>
      </p:sp>
      <p:sp>
        <p:nvSpPr>
          <p:cNvPr id="43" name="Text 41"/>
          <p:cNvSpPr/>
          <p:nvPr/>
        </p:nvSpPr>
        <p:spPr>
          <a:xfrm>
            <a:off x="9473184" y="4032504"/>
            <a:ext cx="2350008" cy="777240"/>
          </a:xfrm>
          <a:prstGeom prst="rect">
            <a:avLst/>
          </a:prstGeom>
          <a:noFill/>
          <a:ln/>
        </p:spPr>
        <p:txBody>
          <a:bodyPr wrap="square" lIns="0" tIns="0" rIns="0" bIns="0" rtlCol="0" anchor="ctr"/>
          <a:lstStyle/>
          <a:p>
            <a:pPr algn="l" indent="0" marL="0">
              <a:lnSpc>
                <a:spcPct val="102000"/>
              </a:lnSpc>
              <a:buNone/>
            </a:pPr>
            <a:r>
              <a:rPr lang="en-US" sz="900" dirty="0">
                <a:solidFill>
                  <a:srgbClr val="5A6472"/>
                </a:solidFill>
                <a:latin typeface="Calibri" pitchFamily="34" charset="0"/>
                <a:ea typeface="Calibri" pitchFamily="34" charset="-122"/>
                <a:cs typeface="Calibri" pitchFamily="34" charset="-120"/>
              </a:rPr>
              <a:t>Offense, defense, cloud, or research.</a:t>
            </a:r>
            <a:endParaRPr lang="en-US" sz="900" dirty="0"/>
          </a:p>
        </p:txBody>
      </p:sp>
      <p:sp>
        <p:nvSpPr>
          <p:cNvPr id="44" name="Shape 42"/>
          <p:cNvSpPr/>
          <p:nvPr/>
        </p:nvSpPr>
        <p:spPr>
          <a:xfrm>
            <a:off x="502920" y="5029200"/>
            <a:ext cx="11183112" cy="1417320"/>
          </a:xfrm>
          <a:prstGeom prst="roundRect">
            <a:avLst>
              <a:gd name="adj" fmla="val 5161"/>
            </a:avLst>
          </a:prstGeom>
          <a:solidFill>
            <a:srgbClr val="F2F5FA"/>
          </a:solidFill>
          <a:ln/>
        </p:spPr>
      </p:sp>
      <p:sp>
        <p:nvSpPr>
          <p:cNvPr id="45" name="Text 43"/>
          <p:cNvSpPr/>
          <p:nvPr/>
        </p:nvSpPr>
        <p:spPr>
          <a:xfrm>
            <a:off x="822960" y="5029200"/>
            <a:ext cx="10543032" cy="1417320"/>
          </a:xfrm>
          <a:prstGeom prst="rect">
            <a:avLst/>
          </a:prstGeom>
          <a:noFill/>
          <a:ln/>
        </p:spPr>
        <p:txBody>
          <a:bodyPr wrap="square" lIns="0" tIns="0" rIns="0" bIns="0" rtlCol="0" anchor="ctr"/>
          <a:lstStyle/>
          <a:p>
            <a:pPr algn="l" indent="0" marL="0">
              <a:lnSpc>
                <a:spcPct val="115000"/>
              </a:lnSpc>
              <a:buNone/>
            </a:pPr>
            <a:r>
              <a:rPr lang="en-US" sz="1150" i="1" dirty="0">
                <a:solidFill>
                  <a:srgbClr val="1B2A4A"/>
                </a:solidFill>
                <a:latin typeface="Cambria" pitchFamily="34" charset="0"/>
                <a:ea typeface="Cambria" pitchFamily="34" charset="-122"/>
                <a:cs typeface="Cambria" pitchFamily="34" charset="-120"/>
              </a:rPr>
              <a:t>Free resources: TryHackMe, OverTheWire (Bandit), picoCTF, OWASP.  Certifications later: Security+ → eJPT → OSCP.</a:t>
            </a:r>
            <a:endParaRPr lang="en-US" sz="1150" dirty="0"/>
          </a:p>
          <a:p>
            <a:pPr algn="l" indent="0" marL="0">
              <a:lnSpc>
                <a:spcPct val="115000"/>
              </a:lnSpc>
              <a:buNone/>
            </a:pPr>
            <a:endParaRPr lang="en-US" sz="1150" dirty="0"/>
          </a:p>
          <a:p>
            <a:pPr algn="l" indent="0" marL="0">
              <a:lnSpc>
                <a:spcPct val="115000"/>
              </a:lnSpc>
              <a:buNone/>
            </a:pPr>
            <a:r>
              <a:rPr lang="en-US" sz="1150" i="1" dirty="0">
                <a:solidFill>
                  <a:srgbClr val="1B2A4A"/>
                </a:solidFill>
                <a:latin typeface="Cambria" pitchFamily="34" charset="0"/>
                <a:ea typeface="Cambria" pitchFamily="34" charset="-122"/>
                <a:cs typeface="Cambria" pitchFamily="34" charset="-120"/>
              </a:rPr>
              <a:t>Learning how attacks work helps us build defenses — every practical exercise belongs in an isolated, authorized environment.</a:t>
            </a:r>
            <a:endParaRPr lang="en-US" sz="1150" dirty="0"/>
          </a:p>
        </p:txBody>
      </p:sp>
      <p:sp>
        <p:nvSpPr>
          <p:cNvPr id="46" name="Text 44"/>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5A6472"/>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47" name="Text 45"/>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5A6472"/>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548640"/>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Is Changing?</a:t>
            </a:r>
            <a:endParaRPr lang="en-US" sz="3200" dirty="0"/>
          </a:p>
        </p:txBody>
      </p:sp>
      <p:sp>
        <p:nvSpPr>
          <p:cNvPr id="3" name="Text 1"/>
          <p:cNvSpPr/>
          <p:nvPr/>
        </p:nvSpPr>
        <p:spPr>
          <a:xfrm>
            <a:off x="640080" y="1170432"/>
            <a:ext cx="10058400" cy="365760"/>
          </a:xfrm>
          <a:prstGeom prst="rect">
            <a:avLst/>
          </a:prstGeom>
          <a:noFill/>
          <a:ln/>
        </p:spPr>
        <p:txBody>
          <a:bodyPr wrap="square" lIns="0" tIns="0" rIns="0" bIns="0" rtlCol="0" anchor="ctr"/>
          <a:lstStyle/>
          <a:p>
            <a:pPr indent="0" marL="0">
              <a:buNone/>
            </a:pPr>
            <a:r>
              <a:rPr lang="en-US" sz="1400" dirty="0">
                <a:solidFill>
                  <a:srgbClr val="2ECC71"/>
                </a:solidFill>
                <a:latin typeface="Calibri" pitchFamily="34" charset="0"/>
                <a:ea typeface="Calibri" pitchFamily="34" charset="-122"/>
                <a:cs typeface="Calibri" pitchFamily="34" charset="-120"/>
              </a:rPr>
              <a:t>The next generation of cybersecurity</a:t>
            </a:r>
            <a:endParaRPr lang="en-US" sz="1400" dirty="0"/>
          </a:p>
        </p:txBody>
      </p:sp>
      <p:sp>
        <p:nvSpPr>
          <p:cNvPr id="4" name="Shape 2"/>
          <p:cNvSpPr/>
          <p:nvPr/>
        </p:nvSpPr>
        <p:spPr>
          <a:xfrm>
            <a:off x="640080" y="1783080"/>
            <a:ext cx="3517392" cy="896112"/>
          </a:xfrm>
          <a:prstGeom prst="roundRect">
            <a:avLst>
              <a:gd name="adj" fmla="val 6122"/>
            </a:avLst>
          </a:prstGeom>
          <a:solidFill>
            <a:srgbClr val="1F2633"/>
          </a:solidFill>
          <a:ln w="9525">
            <a:solidFill>
              <a:srgbClr val="C9D4E6"/>
            </a:solidFill>
            <a:prstDash val="solid"/>
          </a:ln>
        </p:spPr>
      </p:sp>
      <p:sp>
        <p:nvSpPr>
          <p:cNvPr id="5" name="Text 3"/>
          <p:cNvSpPr/>
          <p:nvPr/>
        </p:nvSpPr>
        <p:spPr>
          <a:xfrm>
            <a:off x="731520" y="1783080"/>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matters more than network location</a:t>
            </a:r>
            <a:endParaRPr lang="en-US" sz="1100" dirty="0"/>
          </a:p>
        </p:txBody>
      </p:sp>
      <p:sp>
        <p:nvSpPr>
          <p:cNvPr id="6" name="Shape 4"/>
          <p:cNvSpPr/>
          <p:nvPr/>
        </p:nvSpPr>
        <p:spPr>
          <a:xfrm>
            <a:off x="4322064" y="1783080"/>
            <a:ext cx="3517392" cy="896112"/>
          </a:xfrm>
          <a:prstGeom prst="roundRect">
            <a:avLst>
              <a:gd name="adj" fmla="val 6122"/>
            </a:avLst>
          </a:prstGeom>
          <a:solidFill>
            <a:srgbClr val="1F2633"/>
          </a:solidFill>
          <a:ln w="9525">
            <a:solidFill>
              <a:srgbClr val="C9D4E6"/>
            </a:solidFill>
            <a:prstDash val="solid"/>
          </a:ln>
        </p:spPr>
      </p:sp>
      <p:sp>
        <p:nvSpPr>
          <p:cNvPr id="7" name="Text 5"/>
          <p:cNvSpPr/>
          <p:nvPr/>
        </p:nvSpPr>
        <p:spPr>
          <a:xfrm>
            <a:off x="4413504" y="1783080"/>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AI increases the speed and scale of attacks</a:t>
            </a:r>
            <a:endParaRPr lang="en-US" sz="1100" dirty="0"/>
          </a:p>
        </p:txBody>
      </p:sp>
      <p:sp>
        <p:nvSpPr>
          <p:cNvPr id="8" name="Shape 6"/>
          <p:cNvSpPr/>
          <p:nvPr/>
        </p:nvSpPr>
        <p:spPr>
          <a:xfrm>
            <a:off x="8004048" y="1783080"/>
            <a:ext cx="3517392" cy="896112"/>
          </a:xfrm>
          <a:prstGeom prst="roundRect">
            <a:avLst>
              <a:gd name="adj" fmla="val 6122"/>
            </a:avLst>
          </a:prstGeom>
          <a:solidFill>
            <a:srgbClr val="1F2633"/>
          </a:solidFill>
          <a:ln w="9525">
            <a:solidFill>
              <a:srgbClr val="C9D4E6"/>
            </a:solidFill>
            <a:prstDash val="solid"/>
          </a:ln>
        </p:spPr>
      </p:sp>
      <p:sp>
        <p:nvSpPr>
          <p:cNvPr id="9" name="Text 7"/>
          <p:cNvSpPr/>
          <p:nvPr/>
        </p:nvSpPr>
        <p:spPr>
          <a:xfrm>
            <a:off x="8095488" y="1783080"/>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Attackers target suppliers and software dependencies</a:t>
            </a:r>
            <a:endParaRPr lang="en-US" sz="1100" dirty="0"/>
          </a:p>
        </p:txBody>
      </p:sp>
      <p:sp>
        <p:nvSpPr>
          <p:cNvPr id="10" name="Shape 8"/>
          <p:cNvSpPr/>
          <p:nvPr/>
        </p:nvSpPr>
        <p:spPr>
          <a:xfrm>
            <a:off x="640080" y="2843784"/>
            <a:ext cx="3517392" cy="896112"/>
          </a:xfrm>
          <a:prstGeom prst="roundRect">
            <a:avLst>
              <a:gd name="adj" fmla="val 6122"/>
            </a:avLst>
          </a:prstGeom>
          <a:solidFill>
            <a:srgbClr val="1F2633"/>
          </a:solidFill>
          <a:ln w="9525">
            <a:solidFill>
              <a:srgbClr val="C9D4E6"/>
            </a:solidFill>
            <a:prstDash val="solid"/>
          </a:ln>
        </p:spPr>
      </p:sp>
      <p:sp>
        <p:nvSpPr>
          <p:cNvPr id="11" name="Text 9"/>
          <p:cNvSpPr/>
          <p:nvPr/>
        </p:nvSpPr>
        <p:spPr>
          <a:xfrm>
            <a:off x="731520" y="2843784"/>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Cloud and SaaS misconfigurations replace old perimeter failures</a:t>
            </a:r>
            <a:endParaRPr lang="en-US" sz="1100" dirty="0"/>
          </a:p>
        </p:txBody>
      </p:sp>
      <p:sp>
        <p:nvSpPr>
          <p:cNvPr id="12" name="Shape 10"/>
          <p:cNvSpPr/>
          <p:nvPr/>
        </p:nvSpPr>
        <p:spPr>
          <a:xfrm>
            <a:off x="4322064" y="2843784"/>
            <a:ext cx="3517392" cy="896112"/>
          </a:xfrm>
          <a:prstGeom prst="roundRect">
            <a:avLst>
              <a:gd name="adj" fmla="val 6122"/>
            </a:avLst>
          </a:prstGeom>
          <a:solidFill>
            <a:srgbClr val="1F2633"/>
          </a:solidFill>
          <a:ln w="9525">
            <a:solidFill>
              <a:srgbClr val="C9D4E6"/>
            </a:solidFill>
            <a:prstDash val="solid"/>
          </a:ln>
        </p:spPr>
      </p:sp>
      <p:sp>
        <p:nvSpPr>
          <p:cNvPr id="13" name="Text 11"/>
          <p:cNvSpPr/>
          <p:nvPr/>
        </p:nvSpPr>
        <p:spPr>
          <a:xfrm>
            <a:off x="4413504" y="2843784"/>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Stolen sessions and tokens can be as valuable as passwords</a:t>
            </a:r>
            <a:endParaRPr lang="en-US" sz="1100" dirty="0"/>
          </a:p>
        </p:txBody>
      </p:sp>
      <p:sp>
        <p:nvSpPr>
          <p:cNvPr id="14" name="Shape 12"/>
          <p:cNvSpPr/>
          <p:nvPr/>
        </p:nvSpPr>
        <p:spPr>
          <a:xfrm>
            <a:off x="8004048" y="2843784"/>
            <a:ext cx="3517392" cy="896112"/>
          </a:xfrm>
          <a:prstGeom prst="roundRect">
            <a:avLst>
              <a:gd name="adj" fmla="val 6122"/>
            </a:avLst>
          </a:prstGeom>
          <a:solidFill>
            <a:srgbClr val="1F2633"/>
          </a:solidFill>
          <a:ln w="9525">
            <a:solidFill>
              <a:srgbClr val="C9D4E6"/>
            </a:solidFill>
            <a:prstDash val="solid"/>
          </a:ln>
        </p:spPr>
      </p:sp>
      <p:sp>
        <p:nvSpPr>
          <p:cNvPr id="15" name="Text 13"/>
          <p:cNvSpPr/>
          <p:nvPr/>
        </p:nvSpPr>
        <p:spPr>
          <a:xfrm>
            <a:off x="8095488" y="2843784"/>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Vulnerabilities are exploited faster after disclosure</a:t>
            </a:r>
            <a:endParaRPr lang="en-US" sz="1100" dirty="0"/>
          </a:p>
        </p:txBody>
      </p:sp>
      <p:sp>
        <p:nvSpPr>
          <p:cNvPr id="16" name="Shape 14"/>
          <p:cNvSpPr/>
          <p:nvPr/>
        </p:nvSpPr>
        <p:spPr>
          <a:xfrm>
            <a:off x="640080" y="3904488"/>
            <a:ext cx="3517392" cy="896112"/>
          </a:xfrm>
          <a:prstGeom prst="roundRect">
            <a:avLst>
              <a:gd name="adj" fmla="val 6122"/>
            </a:avLst>
          </a:prstGeom>
          <a:solidFill>
            <a:srgbClr val="1F2633"/>
          </a:solidFill>
          <a:ln w="9525">
            <a:solidFill>
              <a:srgbClr val="C9D4E6"/>
            </a:solidFill>
            <a:prstDash val="solid"/>
          </a:ln>
        </p:spPr>
      </p:sp>
      <p:sp>
        <p:nvSpPr>
          <p:cNvPr id="17" name="Text 15"/>
          <p:cNvSpPr/>
          <p:nvPr/>
        </p:nvSpPr>
        <p:spPr>
          <a:xfrm>
            <a:off x="731520" y="3904488"/>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Ransomware is now data theft and extortion</a:t>
            </a:r>
            <a:endParaRPr lang="en-US" sz="1100" dirty="0"/>
          </a:p>
        </p:txBody>
      </p:sp>
      <p:sp>
        <p:nvSpPr>
          <p:cNvPr id="18" name="Shape 16"/>
          <p:cNvSpPr/>
          <p:nvPr/>
        </p:nvSpPr>
        <p:spPr>
          <a:xfrm>
            <a:off x="4322064" y="3904488"/>
            <a:ext cx="3517392" cy="896112"/>
          </a:xfrm>
          <a:prstGeom prst="roundRect">
            <a:avLst>
              <a:gd name="adj" fmla="val 6122"/>
            </a:avLst>
          </a:prstGeom>
          <a:solidFill>
            <a:srgbClr val="1F2633"/>
          </a:solidFill>
          <a:ln w="9525">
            <a:solidFill>
              <a:srgbClr val="C9D4E6"/>
            </a:solidFill>
            <a:prstDash val="solid"/>
          </a:ln>
        </p:spPr>
      </p:sp>
      <p:sp>
        <p:nvSpPr>
          <p:cNvPr id="19" name="Text 17"/>
          <p:cNvSpPr/>
          <p:nvPr/>
        </p:nvSpPr>
        <p:spPr>
          <a:xfrm>
            <a:off x="4413504" y="3904488"/>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Defense needs prevention, detection, response, and recovery</a:t>
            </a:r>
            <a:endParaRPr lang="en-US" sz="1100" dirty="0"/>
          </a:p>
        </p:txBody>
      </p:sp>
      <p:sp>
        <p:nvSpPr>
          <p:cNvPr id="20" name="Shape 18"/>
          <p:cNvSpPr/>
          <p:nvPr/>
        </p:nvSpPr>
        <p:spPr>
          <a:xfrm>
            <a:off x="8004048" y="3904488"/>
            <a:ext cx="3517392" cy="896112"/>
          </a:xfrm>
          <a:prstGeom prst="roundRect">
            <a:avLst>
              <a:gd name="adj" fmla="val 6122"/>
            </a:avLst>
          </a:prstGeom>
          <a:solidFill>
            <a:srgbClr val="1F2633"/>
          </a:solidFill>
          <a:ln w="9525">
            <a:solidFill>
              <a:srgbClr val="C9D4E6"/>
            </a:solidFill>
            <a:prstDash val="solid"/>
          </a:ln>
        </p:spPr>
      </p:sp>
      <p:sp>
        <p:nvSpPr>
          <p:cNvPr id="21" name="Text 19"/>
          <p:cNvSpPr/>
          <p:nvPr/>
        </p:nvSpPr>
        <p:spPr>
          <a:xfrm>
            <a:off x="8095488" y="3904488"/>
            <a:ext cx="3334512" cy="896112"/>
          </a:xfrm>
          <a:prstGeom prst="rect">
            <a:avLst/>
          </a:prstGeom>
          <a:noFill/>
          <a:ln/>
        </p:spPr>
        <p:txBody>
          <a:bodyPr wrap="square" lIns="0" tIns="0" rIns="0" bIns="0"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verification stays essential — even when messages look real</a:t>
            </a:r>
            <a:endParaRPr lang="en-US" sz="1100" dirty="0"/>
          </a:p>
        </p:txBody>
      </p:sp>
      <p:sp>
        <p:nvSpPr>
          <p:cNvPr id="22" name="Shape 20"/>
          <p:cNvSpPr/>
          <p:nvPr/>
        </p:nvSpPr>
        <p:spPr>
          <a:xfrm>
            <a:off x="658368" y="5074920"/>
            <a:ext cx="1005840" cy="32004"/>
          </a:xfrm>
          <a:prstGeom prst="rect">
            <a:avLst/>
          </a:prstGeom>
          <a:solidFill>
            <a:srgbClr val="2ECC71"/>
          </a:solidFill>
          <a:ln/>
        </p:spPr>
      </p:sp>
      <p:sp>
        <p:nvSpPr>
          <p:cNvPr id="23" name="Text 21"/>
          <p:cNvSpPr/>
          <p:nvPr/>
        </p:nvSpPr>
        <p:spPr>
          <a:xfrm>
            <a:off x="640080" y="5257800"/>
            <a:ext cx="10515600" cy="1005840"/>
          </a:xfrm>
          <a:prstGeom prst="rect">
            <a:avLst/>
          </a:prstGeom>
          <a:noFill/>
          <a:ln/>
        </p:spPr>
        <p:txBody>
          <a:bodyPr wrap="square" lIns="0" tIns="0" rIns="0" bIns="0" rtlCol="0" anchor="ctr"/>
          <a:lstStyle/>
          <a:p>
            <a:pPr indent="0" marL="0">
              <a:lnSpc>
                <a:spcPct val="115000"/>
              </a:lnSpc>
              <a:buNone/>
            </a:pPr>
            <a:r>
              <a:rPr lang="en-US" sz="1400" i="1" dirty="0">
                <a:solidFill>
                  <a:srgbClr val="C9D4E6"/>
                </a:solidFill>
                <a:latin typeface="Cambria" pitchFamily="34" charset="0"/>
                <a:ea typeface="Cambria" pitchFamily="34" charset="-122"/>
                <a:cs typeface="Cambria" pitchFamily="34" charset="-120"/>
              </a:rPr>
              <a:t>“The goal of ethical hacking is not simply to break systems. It is to understand how systems fail, demonstrate the risk safely, and help people build systems that fail less often.”</a:t>
            </a:r>
            <a:endParaRPr lang="en-US" sz="1400" dirty="0"/>
          </a:p>
        </p:txBody>
      </p:sp>
      <p:sp>
        <p:nvSpPr>
          <p:cNvPr id="24" name="Text 22"/>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8E9BB5"/>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25" name="Text 23"/>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8E9BB5"/>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73152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Steps</a:t>
            </a:r>
            <a:endParaRPr lang="en-US" sz="3200" dirty="0"/>
          </a:p>
        </p:txBody>
      </p:sp>
      <p:sp>
        <p:nvSpPr>
          <p:cNvPr id="3" name="Text 1"/>
          <p:cNvSpPr/>
          <p:nvPr/>
        </p:nvSpPr>
        <p:spPr>
          <a:xfrm>
            <a:off x="640080" y="1600200"/>
            <a:ext cx="7772400" cy="2011680"/>
          </a:xfrm>
          <a:prstGeom prst="rect">
            <a:avLst/>
          </a:prstGeom>
          <a:noFill/>
          <a:ln/>
        </p:spPr>
        <p:txBody>
          <a:bodyPr wrap="square" lIns="0" tIns="0" rIns="0" bIns="0" rtlCol="0" anchor="t"/>
          <a:lstStyle/>
          <a:p>
            <a:pPr marL="177800" indent="-177800">
              <a:spcAft>
                <a:spcPts val="1400"/>
              </a:spcAft>
              <a:buSzPct val="100000"/>
              <a:buChar char="•"/>
            </a:pPr>
            <a:r>
              <a:rPr lang="en-US" sz="1400" dirty="0">
                <a:solidFill>
                  <a:srgbClr val="C9D4E6"/>
                </a:solidFill>
                <a:latin typeface="Calibri" pitchFamily="34" charset="0"/>
                <a:ea typeface="Calibri" pitchFamily="34" charset="-122"/>
                <a:cs typeface="Calibri" pitchFamily="34" charset="-120"/>
              </a:rPr>
              <a:t>Tonight — make a TryHackMe account and finish the first room</a:t>
            </a:r>
            <a:endParaRPr lang="en-US" sz="1400" dirty="0"/>
          </a:p>
          <a:p>
            <a:pPr marL="177800" indent="-177800">
              <a:spcAft>
                <a:spcPts val="1400"/>
              </a:spcAft>
              <a:buSzPct val="100000"/>
              <a:buChar char="•"/>
            </a:pPr>
            <a:r>
              <a:rPr lang="en-US" sz="1400" dirty="0">
                <a:solidFill>
                  <a:srgbClr val="C9D4E6"/>
                </a:solidFill>
                <a:latin typeface="Calibri" pitchFamily="34" charset="0"/>
                <a:ea typeface="Calibri" pitchFamily="34" charset="-122"/>
                <a:cs typeface="Calibri" pitchFamily="34" charset="-120"/>
              </a:rPr>
              <a:t>This week — set up a password manager and turn on phishing-resistant MFA</a:t>
            </a:r>
            <a:endParaRPr lang="en-US" sz="1400" dirty="0"/>
          </a:p>
          <a:p>
            <a:pPr marL="177800" indent="-177800">
              <a:spcAft>
                <a:spcPts val="1400"/>
              </a:spcAft>
              <a:buSzPct val="100000"/>
              <a:buChar char="•"/>
            </a:pPr>
            <a:r>
              <a:rPr lang="en-US" sz="1400" dirty="0">
                <a:solidFill>
                  <a:srgbClr val="C9D4E6"/>
                </a:solidFill>
                <a:latin typeface="Calibri" pitchFamily="34" charset="0"/>
                <a:ea typeface="Calibri" pitchFamily="34" charset="-122"/>
                <a:cs typeface="Calibri" pitchFamily="34" charset="-120"/>
              </a:rPr>
              <a:t>This month — start Linux basics, review your own OAuth apps, and join a beginner CTF</a:t>
            </a:r>
            <a:endParaRPr lang="en-US" sz="1400" dirty="0"/>
          </a:p>
        </p:txBody>
      </p:sp>
      <p:sp>
        <p:nvSpPr>
          <p:cNvPr id="4" name="Shape 2"/>
          <p:cNvSpPr/>
          <p:nvPr/>
        </p:nvSpPr>
        <p:spPr>
          <a:xfrm>
            <a:off x="658368" y="4069080"/>
            <a:ext cx="1005840" cy="32004"/>
          </a:xfrm>
          <a:prstGeom prst="rect">
            <a:avLst/>
          </a:prstGeom>
          <a:solidFill>
            <a:srgbClr val="2ECC71"/>
          </a:solidFill>
          <a:ln/>
        </p:spPr>
      </p:sp>
      <p:sp>
        <p:nvSpPr>
          <p:cNvPr id="5" name="Text 3"/>
          <p:cNvSpPr/>
          <p:nvPr/>
        </p:nvSpPr>
        <p:spPr>
          <a:xfrm>
            <a:off x="640080" y="4251960"/>
            <a:ext cx="5486400" cy="502920"/>
          </a:xfrm>
          <a:prstGeom prst="rect">
            <a:avLst/>
          </a:prstGeom>
          <a:noFill/>
          <a:ln/>
        </p:spPr>
        <p:txBody>
          <a:bodyPr wrap="square" lIns="0" tIns="0" rIns="0" bIns="0" rtlCol="0" anchor="ctr"/>
          <a:lstStyle/>
          <a:p>
            <a:pPr indent="0" marL="0">
              <a:buNone/>
            </a:pPr>
            <a:r>
              <a:rPr lang="en-US" sz="2200" b="1" dirty="0">
                <a:solidFill>
                  <a:srgbClr val="2ECC71"/>
                </a:solidFill>
                <a:latin typeface="Cambria" pitchFamily="34" charset="0"/>
                <a:ea typeface="Cambria" pitchFamily="34" charset="-122"/>
                <a:cs typeface="Cambria" pitchFamily="34" charset="-120"/>
              </a:rPr>
              <a:t>Questions?</a:t>
            </a:r>
            <a:endParaRPr lang="en-US" sz="2200" dirty="0"/>
          </a:p>
        </p:txBody>
      </p:sp>
      <p:sp>
        <p:nvSpPr>
          <p:cNvPr id="6" name="Text 4"/>
          <p:cNvSpPr/>
          <p:nvPr/>
        </p:nvSpPr>
        <p:spPr>
          <a:xfrm>
            <a:off x="640080" y="4754880"/>
            <a:ext cx="5486400" cy="365760"/>
          </a:xfrm>
          <a:prstGeom prst="rect">
            <a:avLst/>
          </a:prstGeom>
          <a:noFill/>
          <a:ln/>
        </p:spPr>
        <p:txBody>
          <a:bodyPr wrap="square" lIns="0" tIns="0" rIns="0" bIns="0" rtlCol="0" anchor="ctr"/>
          <a:lstStyle/>
          <a:p>
            <a:pPr indent="0" marL="0">
              <a:buNone/>
            </a:pPr>
            <a:r>
              <a:rPr lang="en-US" sz="1400" dirty="0">
                <a:solidFill>
                  <a:srgbClr val="C9D4E6"/>
                </a:solidFill>
                <a:latin typeface="Calibri" pitchFamily="34" charset="0"/>
                <a:ea typeface="Calibri" pitchFamily="34" charset="-122"/>
                <a:cs typeface="Calibri" pitchFamily="34" charset="-120"/>
              </a:rPr>
              <a:t>Let's talk.</a:t>
            </a:r>
            <a:endParaRPr lang="en-US" sz="1400" dirty="0"/>
          </a:p>
        </p:txBody>
      </p:sp>
      <p:sp>
        <p:nvSpPr>
          <p:cNvPr id="7" name="Text 5"/>
          <p:cNvSpPr/>
          <p:nvPr/>
        </p:nvSpPr>
        <p:spPr>
          <a:xfrm>
            <a:off x="457200" y="6528816"/>
            <a:ext cx="7315200" cy="274320"/>
          </a:xfrm>
          <a:prstGeom prst="rect">
            <a:avLst/>
          </a:prstGeom>
          <a:noFill/>
          <a:ln/>
        </p:spPr>
        <p:txBody>
          <a:bodyPr wrap="square" rtlCol="0" anchor="ctr"/>
          <a:lstStyle/>
          <a:p>
            <a:pPr indent="0" marL="0">
              <a:buNone/>
            </a:pPr>
            <a:r>
              <a:rPr lang="en-US" sz="800" dirty="0">
                <a:solidFill>
                  <a:srgbClr val="8E9BB5"/>
                </a:solidFill>
                <a:latin typeface="Calibri" pitchFamily="34" charset="0"/>
                <a:ea typeface="Calibri" pitchFamily="34" charset="-122"/>
                <a:cs typeface="Calibri" pitchFamily="34" charset="-120"/>
              </a:rPr>
              <a:t>Cybersecurity for Hackers — The Modern Threat Landscape</a:t>
            </a:r>
            <a:endParaRPr lang="en-US" sz="800" dirty="0"/>
          </a:p>
        </p:txBody>
      </p:sp>
      <p:sp>
        <p:nvSpPr>
          <p:cNvPr id="8" name="Text 6"/>
          <p:cNvSpPr/>
          <p:nvPr/>
        </p:nvSpPr>
        <p:spPr>
          <a:xfrm>
            <a:off x="11338560" y="6528816"/>
            <a:ext cx="393192" cy="274320"/>
          </a:xfrm>
          <a:prstGeom prst="rect">
            <a:avLst/>
          </a:prstGeom>
          <a:noFill/>
          <a:ln/>
        </p:spPr>
        <p:txBody>
          <a:bodyPr wrap="square" rtlCol="0" anchor="ctr"/>
          <a:lstStyle/>
          <a:p>
            <a:pPr algn="r" indent="0" marL="0">
              <a:buNone/>
            </a:pPr>
            <a:r>
              <a:rPr lang="en-US" sz="800" dirty="0">
                <a:solidFill>
                  <a:srgbClr val="8E9BB5"/>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2026-09-17T11:26:51Z</dcterms:created>
  <dcterms:modified xsi:type="dcterms:W3CDTF">2026-09-17T11:26:51Z</dcterms:modified>
</cp:coreProperties>
</file>